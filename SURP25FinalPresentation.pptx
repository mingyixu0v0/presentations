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6" r:id="rId2"/>
    <p:sldId id="270" r:id="rId3"/>
    <p:sldId id="274" r:id="rId4"/>
    <p:sldId id="261" r:id="rId5"/>
    <p:sldId id="272" r:id="rId6"/>
    <p:sldId id="268" r:id="rId7"/>
    <p:sldId id="273" r:id="rId8"/>
    <p:sldId id="271" r:id="rId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1588" y="-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7304F6-3185-4C5A-907D-D02C18010846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53EE9-AA47-4F69-9C2E-A4A319FD1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20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953EE9-AA47-4F69-9C2E-A4A319FD1BD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055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95841-98E3-4A09-86F4-278879F8F042}" type="datetime1">
              <a:rPr lang="zh-CN" altLang="en-US" smtClean="0"/>
              <a:t>2025/7/13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D121-3EDA-4245-9512-1A2E4E6FFEEE}" type="datetime1">
              <a:rPr lang="zh-CN" altLang="en-US" smtClean="0"/>
              <a:t>2025/7/13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64D7F-A7ED-4723-9DA5-A6DBC72EF708}" type="datetime1">
              <a:rPr lang="zh-CN" altLang="en-US" smtClean="0"/>
              <a:t>2025/7/13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BEC20-7135-401D-B240-83D84E08129A}" type="datetime1">
              <a:rPr lang="zh-CN" altLang="en-US" smtClean="0"/>
              <a:t>2025/7/13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0B5B-E975-47F2-A14B-29E496D5D5B9}" type="datetime1">
              <a:rPr lang="zh-CN" altLang="en-US" smtClean="0"/>
              <a:t>2025/7/13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A8867-08A8-4E4B-A437-B15106AA2955}" type="datetime1">
              <a:rPr lang="zh-CN" altLang="en-US" smtClean="0"/>
              <a:t>2025/7/13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6CA02-72C2-44F8-A1C9-F2683A52252D}" type="datetime1">
              <a:rPr lang="zh-CN" altLang="en-US" smtClean="0"/>
              <a:t>2025/7/13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FC912-E29F-43EE-A269-1AD7EEA3099D}" type="datetime1">
              <a:rPr lang="zh-CN" altLang="en-US" smtClean="0"/>
              <a:t>2025/7/13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F0A4E-9B9F-4AED-86B0-1BAADE3779CC}" type="datetime1">
              <a:rPr lang="zh-CN" altLang="en-US" smtClean="0"/>
              <a:t>2025/7/13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BA0E3-D5AF-4433-8BE5-91B2A73DD26A}" type="datetime1">
              <a:rPr lang="zh-CN" altLang="en-US" smtClean="0"/>
              <a:t>2025/7/13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4F21F-DC00-4D25-BC5A-239E7A90EB02}" type="datetime1">
              <a:rPr lang="zh-CN" altLang="en-US" smtClean="0"/>
              <a:t>2025/7/13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2E923-8F82-44CC-9513-3C87ED20CABE}" type="datetime1">
              <a:rPr lang="zh-CN" altLang="en-US" smtClean="0"/>
              <a:t>2025/7/13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67544" y="2132856"/>
            <a:ext cx="8206680" cy="147002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 Black" pitchFamily="34" charset="0"/>
              </a:rPr>
              <a:t>JWST High Redshift Galaxies</a:t>
            </a:r>
            <a:r>
              <a:rPr lang="en-US" dirty="0" smtClean="0">
                <a:latin typeface="Arial Black" pitchFamily="34" charset="0"/>
              </a:rPr>
              <a:t>: Chemical </a:t>
            </a:r>
            <a:r>
              <a:rPr lang="en-US" dirty="0">
                <a:latin typeface="Arial Black" pitchFamily="34" charset="0"/>
              </a:rPr>
              <a:t>Evolution of the </a:t>
            </a:r>
            <a:r>
              <a:rPr lang="en-US" dirty="0" smtClean="0">
                <a:latin typeface="Arial Black" pitchFamily="34" charset="0"/>
              </a:rPr>
              <a:t>Universe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23528" y="4365104"/>
            <a:ext cx="8496944" cy="1224136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Speaker: Mingyi Xu</a:t>
            </a:r>
          </a:p>
          <a:p>
            <a:r>
              <a:rPr lang="en-US" altLang="zh-CN" sz="28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Advisors: Dr. Anil K. </a:t>
            </a:r>
            <a:r>
              <a:rPr lang="en-US" altLang="zh-CN" sz="2800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Pradhan</a:t>
            </a:r>
            <a:r>
              <a:rPr lang="en-US" altLang="zh-CN" sz="28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 &amp; Dr. Sultana N. </a:t>
            </a:r>
            <a:r>
              <a:rPr lang="en-US" altLang="zh-CN" sz="2800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Nahar</a:t>
            </a:r>
            <a:endParaRPr lang="en-US" sz="2800" dirty="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4" descr="TheOhioStateUniversity-2C-HorizK-PANTONE.eps">
            <a:extLst>
              <a:ext uri="{FF2B5EF4-FFF2-40B4-BE49-F238E27FC236}">
                <a16:creationId xmlns:lc="http://schemas.openxmlformats.org/drawingml/2006/lockedCanvas" xmlns="" xmlns:a16="http://schemas.microsoft.com/office/drawing/2014/main" id="{90A11C59-7B27-4A67-8DDC-4EE2AA28AD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76995"/>
            <a:ext cx="4968552" cy="7197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94" y="5517232"/>
            <a:ext cx="2249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SURP 2025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 descr="Department of Astronomy - OHIO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392" y="120926"/>
            <a:ext cx="2330144" cy="1553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118920" y="6592267"/>
            <a:ext cx="2133600" cy="365125"/>
          </a:xfrm>
        </p:spPr>
        <p:txBody>
          <a:bodyPr/>
          <a:lstStyle/>
          <a:p>
            <a:r>
              <a:rPr lang="en-US" altLang="zh-CN" sz="1800" b="1" dirty="0" smtClean="0">
                <a:solidFill>
                  <a:srgbClr val="FF0000"/>
                </a:solidFill>
              </a:rPr>
              <a:t>Slide </a:t>
            </a:r>
            <a:fld id="{0C913308-F349-4B6D-A68A-DD1791B4A57B}" type="slidenum">
              <a:rPr lang="zh-CN" altLang="en-US" sz="1800" b="1" smtClean="0">
                <a:solidFill>
                  <a:srgbClr val="FF0000"/>
                </a:solidFill>
              </a:rPr>
              <a:t>1</a:t>
            </a:fld>
            <a:endParaRPr lang="zh-CN" alt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878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-99392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Introduction</a:t>
            </a:r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764704"/>
                <a:ext cx="4978896" cy="4149607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altLang="zh-CN" sz="2000" dirty="0" smtClean="0">
                    <a:solidFill>
                      <a:schemeClr val="bg1"/>
                    </a:solidFill>
                  </a:rPr>
                  <a:t>JWST observations reveal that the first stars and galaxies formed much earlier than believed, within about </a:t>
                </a:r>
                <a:r>
                  <a:rPr lang="en-US" altLang="zh-CN" sz="2000" b="1" dirty="0" smtClean="0">
                    <a:solidFill>
                      <a:srgbClr val="FF0000"/>
                    </a:solidFill>
                  </a:rPr>
                  <a:t>500 million years</a:t>
                </a:r>
                <a:r>
                  <a:rPr lang="en-US" altLang="zh-CN" sz="2000" dirty="0" smtClean="0">
                    <a:solidFill>
                      <a:schemeClr val="bg1"/>
                    </a:solidFill>
                  </a:rPr>
                  <a:t> after Big Bang.</a:t>
                </a:r>
                <a:endParaRPr lang="en-US" sz="2000" dirty="0" smtClean="0">
                  <a:solidFill>
                    <a:schemeClr val="bg1"/>
                  </a:solidFill>
                </a:endParaRPr>
              </a:p>
              <a:p>
                <a:r>
                  <a:rPr lang="en-US" sz="2000" dirty="0" smtClean="0">
                    <a:solidFill>
                      <a:schemeClr val="bg1"/>
                    </a:solidFill>
                  </a:rPr>
                  <a:t>Spectra of metals (elements other than H and He) have been prominently observed from high-z galaxies.</a:t>
                </a:r>
                <a:endParaRPr lang="en-US" sz="2000" dirty="0">
                  <a:solidFill>
                    <a:schemeClr val="bg1"/>
                  </a:solidFill>
                </a:endParaRPr>
              </a:p>
              <a:p>
                <a:r>
                  <a:rPr lang="en-US" sz="2000" dirty="0" smtClean="0">
                    <a:solidFill>
                      <a:schemeClr val="bg1"/>
                    </a:solidFill>
                  </a:rPr>
                  <a:t>Oxygen is a good tracer of chemical evolution for early universe. We aim to build an </a:t>
                </a:r>
                <a:r>
                  <a:rPr lang="en-US" sz="2000" b="1" dirty="0" smtClean="0">
                    <a:solidFill>
                      <a:srgbClr val="FF0000"/>
                    </a:solidFill>
                  </a:rPr>
                  <a:t>Oxygen abundance versus redshift relation</a:t>
                </a:r>
                <a:r>
                  <a:rPr lang="en-US" sz="2000" dirty="0" smtClean="0">
                    <a:solidFill>
                      <a:schemeClr val="bg1"/>
                    </a:solidFill>
                  </a:rPr>
                  <a:t>.</a:t>
                </a:r>
              </a:p>
              <a:p>
                <a:r>
                  <a:rPr lang="en-US" sz="2000" dirty="0" smtClean="0">
                    <a:solidFill>
                      <a:schemeClr val="bg1"/>
                    </a:solidFill>
                  </a:rPr>
                  <a:t>Using </a:t>
                </a:r>
                <a:r>
                  <a:rPr lang="en-US" sz="2000" dirty="0">
                    <a:solidFill>
                      <a:schemeClr val="bg1"/>
                    </a:solidFill>
                  </a:rPr>
                  <a:t>the </a:t>
                </a:r>
                <a:r>
                  <a:rPr lang="en-US" sz="2000" dirty="0" smtClean="0">
                    <a:solidFill>
                      <a:schemeClr val="bg1"/>
                    </a:solidFill>
                  </a:rPr>
                  <a:t>nebular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emission line ratios</a:t>
                </a:r>
                <a:r>
                  <a:rPr lang="en-US" sz="2000" dirty="0">
                    <a:solidFill>
                      <a:schemeClr val="bg1"/>
                    </a:solidFill>
                  </a:rPr>
                  <a:t>, we can diagnose </a:t>
                </a:r>
                <a:r>
                  <a:rPr lang="en-US" sz="2000" b="1" dirty="0" smtClean="0">
                    <a:solidFill>
                      <a:srgbClr val="FF0000"/>
                    </a:solidFill>
                  </a:rPr>
                  <a:t>electron temperature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𝑻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𝒆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, </a:t>
                </a:r>
                <a:r>
                  <a:rPr lang="en-US" sz="2000" b="1" dirty="0" smtClean="0">
                    <a:solidFill>
                      <a:srgbClr val="FF0000"/>
                    </a:solidFill>
                  </a:rPr>
                  <a:t>electron density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𝑵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𝒆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schemeClr val="bg1"/>
                    </a:solidFill>
                  </a:rPr>
                  <a:t>, and </a:t>
                </a:r>
                <a:r>
                  <a:rPr lang="en-US" sz="2000" b="1" dirty="0" smtClean="0">
                    <a:solidFill>
                      <a:srgbClr val="FF0000"/>
                    </a:solidFill>
                  </a:rPr>
                  <a:t>abundance of Oxygen</a:t>
                </a:r>
                <a:r>
                  <a:rPr lang="en-US" sz="2000" dirty="0" smtClean="0">
                    <a:solidFill>
                      <a:schemeClr val="bg1"/>
                    </a:solidFill>
                  </a:rPr>
                  <a:t>.</a:t>
                </a:r>
              </a:p>
              <a:p>
                <a:r>
                  <a:rPr lang="en-US" sz="2000" dirty="0" smtClean="0">
                    <a:solidFill>
                      <a:schemeClr val="bg1"/>
                    </a:solidFill>
                  </a:rPr>
                  <a:t>JWST enables researchers to measure line ratios from high-z galaxies, which were limited by earlier instruments.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64704"/>
                <a:ext cx="4978896" cy="4149607"/>
              </a:xfrm>
              <a:blipFill rotWithShape="1">
                <a:blip r:embed="rId2"/>
                <a:stretch>
                  <a:fillRect l="-490" t="-1028" r="-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James Webb Telescope seen from its left (or port) side. This view shows part of the top of the telescope’s multi-layered sunshield, its primary mirror, mirror support struts, and much more. For more details, select the Text Description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868650"/>
            <a:ext cx="3456384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36096" y="2780928"/>
            <a:ext cx="2929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JWST (James Webb Space Telescope)</a:t>
            </a:r>
          </a:p>
          <a:p>
            <a:r>
              <a:rPr lang="en-US" sz="1200" dirty="0" smtClean="0"/>
              <a:t>Credit: </a:t>
            </a:r>
            <a:r>
              <a:rPr lang="es-ES" sz="1200" dirty="0"/>
              <a:t>NASA, ESA, CSA, Northrop Grumman</a:t>
            </a:r>
            <a:endParaRPr lang="en-US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6503495" y="4654877"/>
            <a:ext cx="25330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Spect</a:t>
            </a:r>
            <a:r>
              <a:rPr lang="en-US" altLang="zh-CN" sz="1200" dirty="0" smtClean="0"/>
              <a:t>r</a:t>
            </a:r>
            <a:r>
              <a:rPr lang="en-US" sz="1200" dirty="0" smtClean="0"/>
              <a:t>a of </a:t>
            </a:r>
            <a:r>
              <a:rPr lang="en-US" altLang="zh-CN" sz="1200" dirty="0" smtClean="0"/>
              <a:t>a</a:t>
            </a:r>
            <a:r>
              <a:rPr lang="en-US" sz="1200" dirty="0" smtClean="0"/>
              <a:t> JWST high redshift galaxy</a:t>
            </a:r>
          </a:p>
          <a:p>
            <a:r>
              <a:rPr lang="en-US" sz="1200" dirty="0" smtClean="0"/>
              <a:t>SXDF-NB1006-2</a:t>
            </a:r>
          </a:p>
          <a:p>
            <a:r>
              <a:rPr lang="en-US" sz="1200" dirty="0" smtClean="0"/>
              <a:t>Credit: </a:t>
            </a:r>
            <a:r>
              <a:rPr lang="es-ES" sz="1200" dirty="0" smtClean="0"/>
              <a:t>Harikane et al. 2025</a:t>
            </a:r>
            <a:endParaRPr lang="en-US" sz="12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118920" y="6592267"/>
            <a:ext cx="2133600" cy="365125"/>
          </a:xfrm>
        </p:spPr>
        <p:txBody>
          <a:bodyPr/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Slide </a:t>
            </a:r>
            <a:fld id="{0C913308-F349-4B6D-A68A-DD1791B4A57B}" type="slidenum">
              <a:rPr lang="zh-CN" altLang="en-US" sz="1800" b="1">
                <a:solidFill>
                  <a:srgbClr val="FF0000"/>
                </a:solidFill>
              </a:rPr>
              <a:pPr/>
              <a:t>2</a:t>
            </a:fld>
            <a:endParaRPr lang="zh-CN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13"/>
          <a:stretch/>
        </p:blipFill>
        <p:spPr bwMode="auto">
          <a:xfrm>
            <a:off x="539552" y="4681040"/>
            <a:ext cx="5988055" cy="1962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椭圆 6"/>
          <p:cNvSpPr/>
          <p:nvPr/>
        </p:nvSpPr>
        <p:spPr>
          <a:xfrm>
            <a:off x="5652120" y="4978042"/>
            <a:ext cx="875487" cy="3231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椭圆 11"/>
          <p:cNvSpPr/>
          <p:nvPr/>
        </p:nvSpPr>
        <p:spPr>
          <a:xfrm>
            <a:off x="3491880" y="4968859"/>
            <a:ext cx="534365" cy="3231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椭圆 12"/>
          <p:cNvSpPr/>
          <p:nvPr/>
        </p:nvSpPr>
        <p:spPr>
          <a:xfrm>
            <a:off x="899592" y="4978042"/>
            <a:ext cx="360040" cy="3231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594972" y="5229200"/>
                <a:ext cx="4843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𝒆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972" y="5229200"/>
                <a:ext cx="484363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016149" y="5229200"/>
                <a:ext cx="4843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𝒆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149" y="5229200"/>
                <a:ext cx="484363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02222" y="5229200"/>
                <a:ext cx="5148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𝑵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𝒆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222" y="5229200"/>
                <a:ext cx="514820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1156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7" grpId="0" animBg="1"/>
      <p:bldP spid="12" grpId="0" animBg="1"/>
      <p:bldP spid="13" grpId="0" animBg="1"/>
      <p:bldP spid="10" grpId="0"/>
      <p:bldP spid="16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11"/>
          <p:cNvSpPr/>
          <p:nvPr/>
        </p:nvSpPr>
        <p:spPr>
          <a:xfrm>
            <a:off x="38522" y="4149080"/>
            <a:ext cx="5397574" cy="247440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268760"/>
                <a:ext cx="8640960" cy="278217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</a:rPr>
                  <a:t>SPECTRA code is a tool </a:t>
                </a:r>
                <a:r>
                  <a:rPr lang="en-US" sz="2400" dirty="0" smtClean="0">
                    <a:solidFill>
                      <a:schemeClr val="bg1"/>
                    </a:solidFill>
                  </a:rPr>
                  <a:t>that could </a:t>
                </a:r>
                <a:r>
                  <a:rPr lang="en-US" sz="2400" dirty="0">
                    <a:solidFill>
                      <a:schemeClr val="bg1"/>
                    </a:solidFill>
                  </a:rPr>
                  <a:t>generate </a:t>
                </a:r>
                <a:r>
                  <a:rPr lang="en-US" sz="2400" dirty="0" smtClean="0">
                    <a:solidFill>
                      <a:schemeClr val="bg1"/>
                    </a:solidFill>
                  </a:rPr>
                  <a:t>the relation </a:t>
                </a:r>
                <a:r>
                  <a:rPr lang="en-US" sz="2400" dirty="0">
                    <a:solidFill>
                      <a:schemeClr val="bg1"/>
                    </a:solidFill>
                  </a:rPr>
                  <a:t>between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line </a:t>
                </a:r>
                <a:r>
                  <a:rPr lang="en-US" sz="2400" b="1" dirty="0" smtClean="0">
                    <a:solidFill>
                      <a:srgbClr val="FF0000"/>
                    </a:solidFill>
                  </a:rPr>
                  <a:t>emissivity ratios</a:t>
                </a:r>
                <a:r>
                  <a:rPr lang="en-US" sz="2400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𝑻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𝒆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, </a:t>
                </a:r>
                <a:r>
                  <a:rPr lang="en-US" sz="2400" dirty="0" smtClean="0">
                    <a:solidFill>
                      <a:schemeClr val="bg1"/>
                    </a:solidFill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𝑵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𝒆</m:t>
                        </m:r>
                      </m:sub>
                    </m:sSub>
                  </m:oMath>
                </a14:m>
                <a:r>
                  <a:rPr lang="en-US" sz="2400" dirty="0" smtClean="0">
                    <a:solidFill>
                      <a:schemeClr val="bg1"/>
                    </a:solidFill>
                  </a:rPr>
                  <a:t> for </a:t>
                </a:r>
                <a:r>
                  <a:rPr lang="en-US" sz="2400" b="1" dirty="0" smtClean="0">
                    <a:solidFill>
                      <a:srgbClr val="FF0000"/>
                    </a:solidFill>
                  </a:rPr>
                  <a:t>EIE</a:t>
                </a:r>
                <a:r>
                  <a:rPr lang="en-US" sz="2400" dirty="0" smtClean="0">
                    <a:solidFill>
                      <a:schemeClr val="bg1"/>
                    </a:solidFill>
                  </a:rPr>
                  <a:t>(</a:t>
                </a:r>
                <a:r>
                  <a:rPr lang="en-US" sz="2400" dirty="0">
                    <a:solidFill>
                      <a:schemeClr val="bg1"/>
                    </a:solidFill>
                  </a:rPr>
                  <a:t>electron impact excitation</a:t>
                </a:r>
                <a:r>
                  <a:rPr lang="en-US" sz="2400" dirty="0" smtClean="0">
                    <a:solidFill>
                      <a:schemeClr val="bg1"/>
                    </a:solidFill>
                  </a:rPr>
                  <a:t>) in specific elements (OIII, OII, and SII in this research).</a:t>
                </a:r>
              </a:p>
              <a:p>
                <a:r>
                  <a:rPr lang="en-US" sz="2400" dirty="0" smtClean="0">
                    <a:solidFill>
                      <a:schemeClr val="bg1"/>
                    </a:solidFill>
                  </a:rPr>
                  <a:t>SPECTRA code take the following parameters:</a:t>
                </a:r>
              </a:p>
              <a:p>
                <a:pPr lvl="1"/>
                <a:r>
                  <a:rPr lang="en-US" sz="2000" dirty="0" smtClean="0">
                    <a:solidFill>
                      <a:schemeClr val="bg1"/>
                    </a:solidFill>
                  </a:rPr>
                  <a:t>Level energies (</a:t>
                </a:r>
                <a:r>
                  <a:rPr lang="en-US" sz="2000" b="1" dirty="0" smtClean="0">
                    <a:solidFill>
                      <a:srgbClr val="FF0000"/>
                    </a:solidFill>
                  </a:rPr>
                  <a:t>E</a:t>
                </a:r>
                <a:r>
                  <a:rPr lang="en-US" sz="2000" dirty="0" smtClean="0">
                    <a:solidFill>
                      <a:schemeClr val="bg1"/>
                    </a:solidFill>
                  </a:rPr>
                  <a:t>)</a:t>
                </a:r>
              </a:p>
              <a:p>
                <a:pPr lvl="1"/>
                <a:r>
                  <a:rPr lang="en-US" sz="2000" dirty="0" err="1" smtClean="0">
                    <a:solidFill>
                      <a:schemeClr val="bg1"/>
                    </a:solidFill>
                  </a:rPr>
                  <a:t>Maxwellian</a:t>
                </a:r>
                <a:r>
                  <a:rPr lang="en-US" sz="2000" dirty="0" smtClean="0">
                    <a:solidFill>
                      <a:schemeClr val="bg1"/>
                    </a:solidFill>
                  </a:rPr>
                  <a:t> average</a:t>
                </a:r>
                <a:r>
                  <a:rPr lang="en-US" altLang="zh-CN" sz="2000" dirty="0" smtClean="0">
                    <a:solidFill>
                      <a:schemeClr val="bg1"/>
                    </a:solidFill>
                  </a:rPr>
                  <a:t>d</a:t>
                </a:r>
                <a:r>
                  <a:rPr lang="en-US" sz="2000" dirty="0" smtClean="0">
                    <a:solidFill>
                      <a:schemeClr val="bg1"/>
                    </a:solidFill>
                  </a:rPr>
                  <a:t> EIE collisional </a:t>
                </a:r>
                <a:r>
                  <a:rPr lang="en-US" sz="2000" dirty="0" err="1" smtClean="0">
                    <a:solidFill>
                      <a:schemeClr val="bg1"/>
                    </a:solidFill>
                  </a:rPr>
                  <a:t>strenghth</a:t>
                </a:r>
                <a:r>
                  <a:rPr lang="en-US" sz="2000" dirty="0" smtClean="0">
                    <a:solidFill>
                      <a:schemeClr val="bg1"/>
                    </a:solidFill>
                  </a:rPr>
                  <a:t> (</a:t>
                </a:r>
                <a:r>
                  <a:rPr lang="en-US" sz="2000" b="1" dirty="0" smtClean="0">
                    <a:solidFill>
                      <a:srgbClr val="FF0000"/>
                    </a:solidFill>
                  </a:rPr>
                  <a:t>Ups</a:t>
                </a:r>
                <a:r>
                  <a:rPr lang="en-US" sz="2000" dirty="0" smtClean="0">
                    <a:solidFill>
                      <a:schemeClr val="bg1"/>
                    </a:solidFill>
                  </a:rPr>
                  <a:t>) (</a:t>
                </a:r>
                <a:r>
                  <a:rPr lang="en-US" sz="2000" dirty="0" err="1" smtClean="0">
                    <a:solidFill>
                      <a:schemeClr val="bg1"/>
                    </a:solidFill>
                  </a:rPr>
                  <a:t>Storey</a:t>
                </a:r>
                <a:r>
                  <a:rPr lang="en-US" sz="2000" dirty="0" smtClean="0">
                    <a:solidFill>
                      <a:schemeClr val="bg1"/>
                    </a:solidFill>
                  </a:rPr>
                  <a:t> et al. 2015)</a:t>
                </a:r>
              </a:p>
              <a:p>
                <a:pPr lvl="1"/>
                <a:r>
                  <a:rPr lang="en-US" sz="2000" dirty="0" smtClean="0">
                    <a:solidFill>
                      <a:schemeClr val="bg1"/>
                    </a:solidFill>
                  </a:rPr>
                  <a:t>Einstein spontaneous </a:t>
                </a:r>
                <a:r>
                  <a:rPr lang="en-US" sz="2000" dirty="0" err="1" smtClean="0">
                    <a:solidFill>
                      <a:schemeClr val="bg1"/>
                    </a:solidFill>
                  </a:rPr>
                  <a:t>radiative</a:t>
                </a:r>
                <a:r>
                  <a:rPr lang="en-US" sz="2000" dirty="0" smtClean="0">
                    <a:solidFill>
                      <a:schemeClr val="bg1"/>
                    </a:solidFill>
                  </a:rPr>
                  <a:t> decay coefficient (</a:t>
                </a:r>
                <a:r>
                  <a:rPr lang="en-US" sz="2000" b="1" dirty="0" smtClean="0">
                    <a:solidFill>
                      <a:srgbClr val="FF0000"/>
                    </a:solidFill>
                  </a:rPr>
                  <a:t>A</a:t>
                </a:r>
                <a:r>
                  <a:rPr lang="en-US" sz="2000" dirty="0" smtClean="0">
                    <a:solidFill>
                      <a:schemeClr val="bg1"/>
                    </a:solidFill>
                  </a:rPr>
                  <a:t>)</a:t>
                </a:r>
              </a:p>
              <a:p>
                <a:pPr lvl="1"/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268760"/>
                <a:ext cx="8640960" cy="2782178"/>
              </a:xfrm>
              <a:blipFill rotWithShape="1">
                <a:blip r:embed="rId2"/>
                <a:stretch>
                  <a:fillRect l="-917" t="-1751" b="-17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-171400"/>
            <a:ext cx="8229600" cy="1584176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Method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SPECTRA code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496" y="4188744"/>
            <a:ext cx="54726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		</a:t>
            </a:r>
            <a:r>
              <a:rPr lang="en-US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Inputs: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			E:	</a:t>
            </a:r>
            <a:r>
              <a:rPr lang="en-US" dirty="0" smtClean="0">
                <a:solidFill>
                  <a:srgbClr val="0070C0"/>
                </a:solidFill>
              </a:rPr>
              <a:t>Ups</a:t>
            </a:r>
            <a:r>
              <a:rPr lang="en-US" sz="800" dirty="0" smtClean="0">
                <a:solidFill>
                  <a:srgbClr val="0070C0"/>
                </a:solidFill>
              </a:rPr>
              <a:t>(for 10</a:t>
            </a:r>
            <a:r>
              <a:rPr lang="en-US" sz="800" baseline="30000" dirty="0" smtClean="0">
                <a:solidFill>
                  <a:srgbClr val="0070C0"/>
                </a:solidFill>
              </a:rPr>
              <a:t>4</a:t>
            </a:r>
            <a:r>
              <a:rPr lang="en-US" sz="800" dirty="0" smtClean="0">
                <a:solidFill>
                  <a:srgbClr val="0070C0"/>
                </a:solidFill>
              </a:rPr>
              <a:t>K)</a:t>
            </a:r>
            <a:r>
              <a:rPr lang="en-US" dirty="0" smtClean="0">
                <a:solidFill>
                  <a:srgbClr val="0070C0"/>
                </a:solidFill>
              </a:rPr>
              <a:t>:</a:t>
            </a:r>
            <a:r>
              <a:rPr lang="en-US" dirty="0" smtClean="0">
                <a:solidFill>
                  <a:schemeClr val="bg1"/>
                </a:solidFill>
              </a:rPr>
              <a:t>	</a:t>
            </a:r>
            <a:r>
              <a:rPr lang="en-US" dirty="0" smtClean="0">
                <a:solidFill>
                  <a:srgbClr val="0070C0"/>
                </a:solidFill>
              </a:rPr>
              <a:t>A: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OIII:	</a:t>
            </a:r>
            <a:r>
              <a:rPr lang="en-US" baseline="30000" dirty="0" smtClean="0">
                <a:solidFill>
                  <a:schemeClr val="bg1"/>
                </a:solidFill>
              </a:rPr>
              <a:t>1</a:t>
            </a:r>
            <a:r>
              <a:rPr lang="en-US" dirty="0" smtClean="0">
                <a:solidFill>
                  <a:schemeClr val="bg1"/>
                </a:solidFill>
              </a:rPr>
              <a:t>S</a:t>
            </a:r>
            <a:r>
              <a:rPr lang="en-US" baseline="-25000" dirty="0" smtClean="0">
                <a:solidFill>
                  <a:schemeClr val="bg1"/>
                </a:solidFill>
              </a:rPr>
              <a:t>0		</a:t>
            </a:r>
            <a:r>
              <a:rPr lang="en-US" dirty="0" smtClean="0">
                <a:solidFill>
                  <a:schemeClr val="bg1"/>
                </a:solidFill>
              </a:rPr>
              <a:t>3.94E-1		</a:t>
            </a:r>
            <a:endParaRPr lang="en-US" baseline="-25000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				</a:t>
            </a:r>
            <a:r>
              <a:rPr lang="en-US" dirty="0" smtClean="0">
                <a:solidFill>
                  <a:srgbClr val="0070C0"/>
                </a:solidFill>
              </a:rPr>
              <a:t>6.17E-1	1.78E0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baseline="30000" dirty="0" smtClean="0">
                <a:solidFill>
                  <a:schemeClr val="bg1"/>
                </a:solidFill>
              </a:rPr>
              <a:t>	1</a:t>
            </a:r>
            <a:r>
              <a:rPr lang="en-US" dirty="0" smtClean="0">
                <a:solidFill>
                  <a:schemeClr val="bg1"/>
                </a:solidFill>
              </a:rPr>
              <a:t>D</a:t>
            </a:r>
            <a:r>
              <a:rPr lang="en-US" baseline="-25000" dirty="0" smtClean="0">
                <a:solidFill>
                  <a:schemeClr val="bg1"/>
                </a:solidFill>
              </a:rPr>
              <a:t>2		</a:t>
            </a:r>
            <a:r>
              <a:rPr lang="en-US" dirty="0" smtClean="0">
                <a:solidFill>
                  <a:schemeClr val="bg1"/>
                </a:solidFill>
              </a:rPr>
              <a:t>1.85E-1</a:t>
            </a:r>
            <a:endParaRPr lang="en-US" baseline="-25000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				</a:t>
            </a:r>
            <a:r>
              <a:rPr lang="en-US" dirty="0" smtClean="0">
                <a:solidFill>
                  <a:srgbClr val="0070C0"/>
                </a:solidFill>
              </a:rPr>
              <a:t>1.26E0	1.96E-2</a:t>
            </a:r>
          </a:p>
          <a:p>
            <a:r>
              <a:rPr lang="en-US" baseline="30000" dirty="0" smtClean="0">
                <a:solidFill>
                  <a:schemeClr val="bg1"/>
                </a:solidFill>
              </a:rPr>
              <a:t>	3</a:t>
            </a:r>
            <a:r>
              <a:rPr lang="en-US" dirty="0" smtClean="0">
                <a:solidFill>
                  <a:schemeClr val="bg1"/>
                </a:solidFill>
              </a:rPr>
              <a:t>P</a:t>
            </a:r>
            <a:r>
              <a:rPr lang="en-US" baseline="-25000" dirty="0" smtClean="0">
                <a:solidFill>
                  <a:schemeClr val="bg1"/>
                </a:solidFill>
              </a:rPr>
              <a:t>2		</a:t>
            </a:r>
            <a:r>
              <a:rPr lang="en-US" dirty="0" smtClean="0">
                <a:solidFill>
                  <a:schemeClr val="bg1"/>
                </a:solidFill>
              </a:rPr>
              <a:t>2.79E-3</a:t>
            </a:r>
            <a:endParaRPr lang="en-US" baseline="-2500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7624" y="5589240"/>
            <a:ext cx="124585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smtClean="0">
                <a:solidFill>
                  <a:schemeClr val="accent1"/>
                </a:solidFill>
              </a:rPr>
              <a:t>Emit 5008Å photon</a:t>
            </a:r>
            <a:endParaRPr lang="en-US" sz="1050" dirty="0">
              <a:solidFill>
                <a:schemeClr val="accent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94208" y="5059598"/>
            <a:ext cx="124585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smtClean="0">
                <a:solidFill>
                  <a:schemeClr val="accent1"/>
                </a:solidFill>
              </a:rPr>
              <a:t>Emit 4364Å photon</a:t>
            </a:r>
            <a:endParaRPr lang="en-US" sz="1050" dirty="0">
              <a:solidFill>
                <a:schemeClr val="accent1"/>
              </a:solidFill>
            </a:endParaRPr>
          </a:p>
        </p:txBody>
      </p:sp>
      <p:sp>
        <p:nvSpPr>
          <p:cNvPr id="10" name="下箭头 9"/>
          <p:cNvSpPr/>
          <p:nvPr/>
        </p:nvSpPr>
        <p:spPr>
          <a:xfrm>
            <a:off x="1087002" y="5104924"/>
            <a:ext cx="144016" cy="1989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下箭头 10"/>
          <p:cNvSpPr/>
          <p:nvPr/>
        </p:nvSpPr>
        <p:spPr>
          <a:xfrm>
            <a:off x="1087002" y="5638686"/>
            <a:ext cx="144016" cy="1989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圆角矩形 12"/>
          <p:cNvSpPr/>
          <p:nvPr/>
        </p:nvSpPr>
        <p:spPr>
          <a:xfrm>
            <a:off x="6390208" y="4149080"/>
            <a:ext cx="2672592" cy="247440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右箭头 13"/>
          <p:cNvSpPr/>
          <p:nvPr/>
        </p:nvSpPr>
        <p:spPr>
          <a:xfrm>
            <a:off x="5454104" y="4828709"/>
            <a:ext cx="936104" cy="1115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SPECTRA</a:t>
            </a:r>
            <a:endParaRPr lang="en-US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516216" y="4221088"/>
                <a:ext cx="2532553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>
                    <a:solidFill>
                      <a:srgbClr val="0070C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Outputs: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chemeClr val="bg1"/>
                            </a:solidFill>
                            <a:effectLst/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chemeClr val="bg1"/>
                            </a:solidFill>
                            <a:effectLst/>
                            <a:latin typeface="Cambria Math"/>
                          </a:rPr>
                          <m:t>𝑻</m:t>
                        </m:r>
                      </m:e>
                      <m:sub>
                        <m:r>
                          <a:rPr lang="en-US" b="1" i="1" dirty="0">
                            <a:solidFill>
                              <a:schemeClr val="bg1"/>
                            </a:solidFill>
                            <a:effectLst/>
                            <a:latin typeface="Cambria Math"/>
                          </a:rPr>
                          <m:t>𝒆</m:t>
                        </m:r>
                      </m:sub>
                    </m:sSub>
                  </m:oMath>
                </a14:m>
                <a:r>
                  <a:rPr lang="en-US" sz="1100" b="1" dirty="0" smtClean="0">
                    <a:solidFill>
                      <a:schemeClr val="bg1"/>
                    </a:solidFill>
                    <a:effectLst/>
                  </a:rPr>
                  <a:t>(K)</a:t>
                </a:r>
                <a:r>
                  <a:rPr lang="en-US" sz="3200" b="1" dirty="0">
                    <a:solidFill>
                      <a:schemeClr val="bg1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chemeClr val="bg1"/>
                            </a:solidFill>
                            <a:effectLst/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chemeClr val="bg1"/>
                            </a:solidFill>
                            <a:effectLst/>
                            <a:latin typeface="Cambria Math"/>
                          </a:rPr>
                          <m:t>𝑵</m:t>
                        </m:r>
                      </m:e>
                      <m:sub>
                        <m:r>
                          <a:rPr lang="en-US" b="1" i="1" dirty="0">
                            <a:solidFill>
                              <a:schemeClr val="bg1"/>
                            </a:solidFill>
                            <a:effectLst/>
                            <a:latin typeface="Cambria Math"/>
                          </a:rPr>
                          <m:t>𝒆</m:t>
                        </m:r>
                      </m:sub>
                    </m:sSub>
                    <m:r>
                      <a:rPr lang="en-US" sz="1100" b="1" i="1" dirty="0" smtClean="0">
                        <a:solidFill>
                          <a:schemeClr val="bg1"/>
                        </a:solidFill>
                        <a:effectLst/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1100" b="1" i="1" dirty="0" smtClean="0">
                            <a:solidFill>
                              <a:schemeClr val="bg1"/>
                            </a:solidFill>
                            <a:effectLst/>
                            <a:latin typeface="Cambria Math"/>
                          </a:rPr>
                        </m:ctrlPr>
                      </m:sSupPr>
                      <m:e>
                        <m:r>
                          <a:rPr lang="en-US" sz="1100" b="1" i="1" dirty="0" smtClean="0">
                            <a:solidFill>
                              <a:schemeClr val="bg1"/>
                            </a:solidFill>
                            <a:effectLst/>
                            <a:latin typeface="Cambria Math"/>
                          </a:rPr>
                          <m:t>𝒄𝒎</m:t>
                        </m:r>
                      </m:e>
                      <m:sup>
                        <m:r>
                          <a:rPr lang="en-US" sz="1100" b="1" i="1" dirty="0" smtClean="0">
                            <a:solidFill>
                              <a:schemeClr val="bg1"/>
                            </a:solidFill>
                            <a:effectLst/>
                            <a:latin typeface="Cambria Math"/>
                          </a:rPr>
                          <m:t>−</m:t>
                        </m:r>
                        <m:r>
                          <a:rPr lang="en-US" sz="1100" b="1" i="1" dirty="0" smtClean="0">
                            <a:solidFill>
                              <a:schemeClr val="bg1"/>
                            </a:solidFill>
                            <a:effectLst/>
                            <a:latin typeface="Cambria Math"/>
                          </a:rPr>
                          <m:t>𝟑</m:t>
                        </m:r>
                      </m:sup>
                    </m:sSup>
                    <m:r>
                      <a:rPr lang="en-US" sz="1100" b="1" i="1" dirty="0" smtClean="0">
                        <a:solidFill>
                          <a:schemeClr val="bg1"/>
                        </a:solidFill>
                        <a:effectLst/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 smtClean="0">
                    <a:solidFill>
                      <a:schemeClr val="bg1"/>
                    </a:solidFill>
                    <a:effectLst/>
                  </a:rPr>
                  <a:t>	Ratio</a:t>
                </a:r>
              </a:p>
              <a:p>
                <a:r>
                  <a:rPr lang="en-US" dirty="0" smtClean="0">
                    <a:solidFill>
                      <a:schemeClr val="bg1"/>
                    </a:solidFill>
                  </a:rPr>
                  <a:t>10000	10	4076</a:t>
                </a:r>
              </a:p>
              <a:p>
                <a:r>
                  <a:rPr lang="en-US" dirty="0" smtClean="0">
                    <a:solidFill>
                      <a:schemeClr val="bg1"/>
                    </a:solidFill>
                  </a:rPr>
                  <a:t>10000	20	4076</a:t>
                </a:r>
              </a:p>
              <a:p>
                <a:r>
                  <a:rPr lang="en-US" dirty="0" smtClean="0">
                    <a:solidFill>
                      <a:schemeClr val="bg1"/>
                    </a:solidFill>
                    <a:effectLst/>
                  </a:rPr>
                  <a:t>10000	30	4076</a:t>
                </a:r>
              </a:p>
              <a:p>
                <a:r>
                  <a:rPr lang="en-US" dirty="0" smtClean="0">
                    <a:solidFill>
                      <a:schemeClr val="bg1"/>
                    </a:solidFill>
                  </a:rPr>
                  <a:t>10000	40	4076</a:t>
                </a:r>
              </a:p>
              <a:p>
                <a:r>
                  <a:rPr lang="en-US" dirty="0" smtClean="0">
                    <a:solidFill>
                      <a:schemeClr val="bg1"/>
                    </a:solidFill>
                  </a:rPr>
                  <a:t>……</a:t>
                </a:r>
                <a:endParaRPr lang="en-US" dirty="0">
                  <a:solidFill>
                    <a:schemeClr val="bg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216" y="4221088"/>
                <a:ext cx="2532553" cy="2246769"/>
              </a:xfrm>
              <a:prstGeom prst="rect">
                <a:avLst/>
              </a:prstGeom>
              <a:blipFill rotWithShape="1">
                <a:blip r:embed="rId3"/>
                <a:stretch>
                  <a:fillRect l="-2169" t="-1355" r="-1205" b="-3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118920" y="6592267"/>
            <a:ext cx="2133600" cy="365125"/>
          </a:xfrm>
        </p:spPr>
        <p:txBody>
          <a:bodyPr/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Slide </a:t>
            </a:r>
            <a:fld id="{0C913308-F349-4B6D-A68A-DD1791B4A57B}" type="slidenum">
              <a:rPr lang="zh-CN" altLang="en-US" sz="1800" b="1">
                <a:solidFill>
                  <a:srgbClr val="FF0000"/>
                </a:solidFill>
              </a:rPr>
              <a:pPr/>
              <a:t>3</a:t>
            </a:fld>
            <a:endParaRPr lang="zh-CN" alt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7577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7" grpId="0"/>
      <p:bldP spid="8" grpId="0"/>
      <p:bldP spid="9" grpId="0"/>
      <p:bldP spid="10" grpId="0" animBg="1"/>
      <p:bldP spid="11" grpId="0" animBg="1"/>
      <p:bldP spid="13" grpId="0" animBg="1"/>
      <p:bldP spid="14" grpId="0" animBg="1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171400"/>
            <a:ext cx="8229600" cy="850106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Method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8390" y="548680"/>
            <a:ext cx="842493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marL="342900" indent="-342900">
              <a:buAutoNum type="arabicPeriod"/>
            </a:pPr>
            <a:r>
              <a:rPr lang="en-US" dirty="0" smtClean="0"/>
              <a:t>Extract line ratios from literatures.</a:t>
            </a:r>
          </a:p>
          <a:p>
            <a:endParaRPr lang="en-US" dirty="0" smtClean="0"/>
          </a:p>
          <a:p>
            <a:r>
              <a:rPr lang="en-US" dirty="0"/>
              <a:t>Our example: </a:t>
            </a:r>
            <a:r>
              <a:rPr lang="en-US" dirty="0" smtClean="0"/>
              <a:t>SXDF-NB1006-2 at z=7.212</a:t>
            </a:r>
            <a:r>
              <a:rPr lang="en-US" sz="1400" dirty="0" smtClean="0"/>
              <a:t>(Line ratios from </a:t>
            </a:r>
            <a:r>
              <a:rPr lang="en-US" sz="1400" dirty="0" err="1" smtClean="0"/>
              <a:t>Harikane</a:t>
            </a:r>
            <a:r>
              <a:rPr lang="en-US" sz="1400" dirty="0" smtClean="0"/>
              <a:t> et. </a:t>
            </a:r>
            <a:r>
              <a:rPr lang="en-US" sz="1400" dirty="0"/>
              <a:t>a</a:t>
            </a:r>
            <a:r>
              <a:rPr lang="en-US" sz="1400" dirty="0" smtClean="0"/>
              <a:t>l 2025)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18666" y="1161976"/>
                <a:ext cx="8424936" cy="266429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numCol="2" rtlCol="0" anchor="ctr"/>
              <a:lstStyle/>
              <a:p>
                <a:r>
                  <a:rPr lang="en-US" sz="2400" dirty="0" smtClean="0"/>
                  <a:t>2. </a:t>
                </a:r>
                <a:r>
                  <a:rPr lang="en-US" sz="2400" dirty="0" smtClean="0">
                    <a:solidFill>
                      <a:srgbClr val="FF0000"/>
                    </a:solidFill>
                  </a:rPr>
                  <a:t>OII3729/OII3726</a:t>
                </a:r>
                <a:r>
                  <a:rPr lang="en-US" sz="2400" dirty="0" smtClean="0"/>
                  <a:t> </a:t>
                </a:r>
                <a:r>
                  <a:rPr lang="en-US" sz="2400" dirty="0"/>
                  <a:t>ratio </a:t>
                </a:r>
                <a:r>
                  <a:rPr lang="en-US" sz="2400" dirty="0" smtClean="0"/>
                  <a:t>and </a:t>
                </a:r>
                <a:r>
                  <a:rPr lang="en-US" sz="2400" dirty="0">
                    <a:solidFill>
                      <a:srgbClr val="FF0000"/>
                    </a:solidFill>
                  </a:rPr>
                  <a:t>SII6718/SII6732</a:t>
                </a:r>
                <a:r>
                  <a:rPr lang="en-US" sz="2400" dirty="0"/>
                  <a:t> </a:t>
                </a:r>
                <a:r>
                  <a:rPr lang="en-US" sz="2400" dirty="0" smtClean="0"/>
                  <a:t>ratio are sensitive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2400" dirty="0" smtClean="0"/>
                  <a:t>. We can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2400" dirty="0" smtClean="0"/>
                  <a:t> by these OII or SII doublets ratio.</a:t>
                </a:r>
                <a:endParaRPr lang="en-US" sz="24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66" y="1161976"/>
                <a:ext cx="8424936" cy="2664296"/>
              </a:xfrm>
              <a:prstGeom prst="rect">
                <a:avLst/>
              </a:prstGeom>
              <a:blipFill rotWithShape="1">
                <a:blip r:embed="rId2"/>
                <a:stretch>
                  <a:fillRect l="-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323528" y="3933056"/>
                <a:ext cx="8420074" cy="266429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numCol="2" rtlCol="0" anchor="ctr"/>
              <a:lstStyle/>
              <a:p>
                <a:r>
                  <a:rPr lang="en-US" sz="2800" dirty="0" smtClean="0"/>
                  <a:t>3. </a:t>
                </a:r>
                <a:r>
                  <a:rPr lang="en-US" sz="2400" dirty="0" smtClean="0">
                    <a:solidFill>
                      <a:srgbClr val="FF0000"/>
                    </a:solidFill>
                  </a:rPr>
                  <a:t>OIII4364 line</a:t>
                </a:r>
                <a:r>
                  <a:rPr lang="en-US" sz="2400" dirty="0" smtClean="0"/>
                  <a:t> is a good target for temperature diagnostic. </a:t>
                </a:r>
                <a:r>
                  <a:rPr lang="en-US" sz="2400" dirty="0"/>
                  <a:t>W</a:t>
                </a:r>
                <a:r>
                  <a:rPr lang="en-US" sz="2400" dirty="0" smtClean="0"/>
                  <a:t>e can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2400" dirty="0" smtClean="0"/>
                  <a:t> by </a:t>
                </a:r>
                <a:r>
                  <a:rPr lang="en-US" sz="2400" dirty="0" smtClean="0">
                    <a:solidFill>
                      <a:srgbClr val="FF0000"/>
                    </a:solidFill>
                  </a:rPr>
                  <a:t>OIII5008/4364</a:t>
                </a:r>
                <a:r>
                  <a:rPr lang="en-US" sz="2400" dirty="0" smtClean="0"/>
                  <a:t> ratio</a:t>
                </a:r>
                <a:r>
                  <a:rPr lang="en-US" sz="1100" dirty="0"/>
                  <a:t> </a:t>
                </a:r>
                <a:r>
                  <a:rPr lang="en-US" sz="2400" dirty="0" smtClean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2400" dirty="0" smtClean="0"/>
                  <a:t>. </a:t>
                </a:r>
                <a:endParaRPr lang="en-US" sz="2800" dirty="0" smtClean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933056"/>
                <a:ext cx="8420074" cy="2664296"/>
              </a:xfrm>
              <a:prstGeom prst="rect">
                <a:avLst/>
              </a:prstGeom>
              <a:blipFill rotWithShape="1">
                <a:blip r:embed="rId3"/>
                <a:stretch>
                  <a:fillRect l="-13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486" y="1238549"/>
            <a:ext cx="3549546" cy="255049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4026302"/>
            <a:ext cx="3096344" cy="2504147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118920" y="6592267"/>
            <a:ext cx="2133600" cy="365125"/>
          </a:xfrm>
        </p:spPr>
        <p:txBody>
          <a:bodyPr/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Slide </a:t>
            </a:r>
            <a:fld id="{0C913308-F349-4B6D-A68A-DD1791B4A57B}" type="slidenum">
              <a:rPr lang="zh-CN" altLang="en-US" sz="1800" b="1">
                <a:solidFill>
                  <a:srgbClr val="FF0000"/>
                </a:solidFill>
              </a:rPr>
              <a:pPr/>
              <a:t>4</a:t>
            </a:fld>
            <a:endParaRPr lang="zh-CN" alt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684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51520" y="548680"/>
                <a:ext cx="8640960" cy="338437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numCol="2" rtlCol="0" anchor="ctr"/>
              <a:lstStyle/>
              <a:p>
                <a:r>
                  <a:rPr lang="en-US" dirty="0" smtClean="0"/>
                  <a:t>4. By the empirical formula from </a:t>
                </a:r>
                <a:r>
                  <a:rPr lang="en-US" dirty="0" err="1" smtClean="0"/>
                  <a:t>Izotov</a:t>
                </a:r>
                <a:r>
                  <a:rPr lang="en-US" dirty="0" smtClean="0"/>
                  <a:t> et. al 2006, 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en-US" dirty="0" smtClean="0"/>
                  <a:t>Using OII3727 doublet flux or OII7320,7330 doublet flux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bg1"/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bg1"/>
                            </a:solidFill>
                            <a:latin typeface="Cambria Math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bg1"/>
                            </a:solidFill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bg1"/>
                            </a:solidFill>
                            <a:latin typeface="Cambria Math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dirty="0" smtClean="0"/>
                  <a:t> we can get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OII abundance</a:t>
                </a:r>
                <a:r>
                  <a:rPr lang="en-US" dirty="0" smtClean="0"/>
                  <a:t>.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en-US" dirty="0" smtClean="0"/>
                  <a:t>Using OIII4959,5007 doublet flux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bg1"/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bg1"/>
                            </a:solidFill>
                            <a:latin typeface="Cambria Math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dirty="0" smtClean="0"/>
                  <a:t> we can get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OIII abundance</a:t>
                </a:r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These two ionized states are dominant, we can just add them up to get total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Oxygen abundance</a:t>
                </a:r>
                <a:r>
                  <a:rPr lang="en-US" dirty="0" smtClean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12+log(O/H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)</a:t>
                </a:r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548680"/>
                <a:ext cx="8640960" cy="3384376"/>
              </a:xfrm>
              <a:prstGeom prst="rect">
                <a:avLst/>
              </a:prstGeom>
              <a:blipFill rotWithShape="1">
                <a:blip r:embed="rId2"/>
                <a:stretch>
                  <a:fillRect l="-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-171400"/>
            <a:ext cx="8229600" cy="850106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Method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7629" y="908720"/>
            <a:ext cx="3651702" cy="2380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7629" y="692696"/>
            <a:ext cx="996950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43"/>
          <a:stretch/>
        </p:blipFill>
        <p:spPr bwMode="auto">
          <a:xfrm>
            <a:off x="6156176" y="692696"/>
            <a:ext cx="89535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7629" y="3338834"/>
            <a:ext cx="3723851" cy="450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21" y="4093251"/>
            <a:ext cx="3793306" cy="26535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55976" y="4023062"/>
                <a:ext cx="4536504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itchFamily="34" charset="0"/>
                  <a:buChar char="•"/>
                </a:pPr>
                <a:r>
                  <a:rPr lang="en-US" dirty="0" smtClean="0">
                    <a:solidFill>
                      <a:schemeClr val="bg1"/>
                    </a:solidFill>
                  </a:rPr>
                  <a:t>For SXDF-NB1006-2 at z=7.212,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= 14000K</a:t>
                </a:r>
                <a:r>
                  <a:rPr lang="en-US" dirty="0" smtClean="0">
                    <a:solidFill>
                      <a:schemeClr val="bg1"/>
                    </a:solidFill>
                  </a:rPr>
                  <a:t>, we get an oxygen abundance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12+log(O/H) = 7.98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dirty="0" smtClean="0">
                    <a:solidFill>
                      <a:schemeClr val="bg1"/>
                    </a:solidFill>
                  </a:rPr>
                  <a:t>(Normalized by taking Hydrogen abundance as 12 in log scale).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en-US" dirty="0" smtClean="0">
                    <a:solidFill>
                      <a:schemeClr val="bg1"/>
                    </a:solidFill>
                  </a:rPr>
                  <a:t>This is close to literature (13900K and 7.99).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en-US" dirty="0" smtClean="0">
                    <a:solidFill>
                      <a:schemeClr val="bg1"/>
                    </a:solidFill>
                  </a:rPr>
                  <a:t>Solar value is</a:t>
                </a:r>
                <a:r>
                  <a:rPr lang="en-US" dirty="0">
                    <a:solidFill>
                      <a:schemeClr val="bg1"/>
                    </a:solidFill>
                  </a:rPr>
                  <a:t> 12+log(O/H) =</a:t>
                </a:r>
                <a:r>
                  <a:rPr lang="en-US" dirty="0" smtClean="0">
                    <a:solidFill>
                      <a:schemeClr val="bg1"/>
                    </a:solidFill>
                  </a:rPr>
                  <a:t> 8.70.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r>
                  <a:rPr lang="en-US" dirty="0" smtClean="0">
                    <a:solidFill>
                      <a:schemeClr val="bg1"/>
                    </a:solidFill>
                  </a:rPr>
                  <a:t>This means, at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~720 </a:t>
                </a:r>
                <a:r>
                  <a:rPr lang="en-US" dirty="0" err="1" smtClean="0">
                    <a:solidFill>
                      <a:srgbClr val="FF0000"/>
                    </a:solidFill>
                  </a:rPr>
                  <a:t>Myr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 after the Big Bang</a:t>
                </a:r>
                <a:r>
                  <a:rPr lang="en-US" dirty="0" smtClean="0">
                    <a:solidFill>
                      <a:schemeClr val="bg1"/>
                    </a:solidFill>
                  </a:rPr>
                  <a:t>(12.7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bg1"/>
                    </a:solidFill>
                  </a:rPr>
                  <a:t>Gyr</a:t>
                </a:r>
                <a:r>
                  <a:rPr lang="en-US" dirty="0" smtClean="0">
                    <a:solidFill>
                      <a:schemeClr val="bg1"/>
                    </a:solidFill>
                  </a:rPr>
                  <a:t> ago), Oxygen in SXDF-NB1006-2 is just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19%</a:t>
                </a:r>
                <a:r>
                  <a:rPr lang="en-US" dirty="0" smtClean="0">
                    <a:solidFill>
                      <a:schemeClr val="bg1"/>
                    </a:solidFill>
                  </a:rPr>
                  <a:t> of current universe.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4023062"/>
                <a:ext cx="4536504" cy="2862322"/>
              </a:xfrm>
              <a:prstGeom prst="rect">
                <a:avLst/>
              </a:prstGeom>
              <a:blipFill rotWithShape="1">
                <a:blip r:embed="rId8"/>
                <a:stretch>
                  <a:fillRect l="-941" t="-1066" r="-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118920" y="6592267"/>
            <a:ext cx="2133600" cy="365125"/>
          </a:xfrm>
        </p:spPr>
        <p:txBody>
          <a:bodyPr/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Slide </a:t>
            </a:r>
            <a:fld id="{0C913308-F349-4B6D-A68A-DD1791B4A57B}" type="slidenum">
              <a:rPr lang="zh-CN" altLang="en-US" sz="1800" b="1">
                <a:solidFill>
                  <a:srgbClr val="FF0000"/>
                </a:solidFill>
              </a:rPr>
              <a:pPr/>
              <a:t>5</a:t>
            </a:fld>
            <a:endParaRPr lang="zh-CN" altLang="en-US" sz="1800" b="1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52637" y="914516"/>
            <a:ext cx="3646693" cy="1650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2771800" y="2098950"/>
            <a:ext cx="2232248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5052637" y="2636911"/>
            <a:ext cx="3646694" cy="652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3131840" y="2636911"/>
            <a:ext cx="1872208" cy="21602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2797910" y="3455924"/>
            <a:ext cx="2206138" cy="10801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5047629" y="3338834"/>
            <a:ext cx="1108547" cy="4502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323524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15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395536" y="31159"/>
            <a:ext cx="8282681" cy="864096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Result – Oxygen Abundance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Redshift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1019951"/>
            <a:ext cx="5904656" cy="41105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1520" y="5301208"/>
            <a:ext cx="8712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If we just adopt a linear fitting, an </a:t>
            </a:r>
            <a:r>
              <a:rPr lang="en-US" dirty="0" smtClean="0">
                <a:solidFill>
                  <a:srgbClr val="FF0000"/>
                </a:solidFill>
              </a:rPr>
              <a:t>downward trend</a:t>
            </a:r>
            <a:r>
              <a:rPr lang="en-US" dirty="0" smtClean="0">
                <a:solidFill>
                  <a:schemeClr val="bg1"/>
                </a:solidFill>
              </a:rPr>
              <a:t> of oxygen abundance with increasing redshift is prominent.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Some outliers might be dominant by AGN.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118920" y="6592267"/>
            <a:ext cx="2133600" cy="365125"/>
          </a:xfrm>
        </p:spPr>
        <p:txBody>
          <a:bodyPr/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Slide </a:t>
            </a:r>
            <a:fld id="{0C913308-F349-4B6D-A68A-DD1791B4A57B}" type="slidenum">
              <a:rPr lang="zh-CN" altLang="en-US" sz="1800" b="1">
                <a:solidFill>
                  <a:srgbClr val="FF0000"/>
                </a:solidFill>
              </a:rPr>
              <a:pPr/>
              <a:t>6</a:t>
            </a:fld>
            <a:endParaRPr lang="zh-CN" alt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00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48617" y="44624"/>
            <a:ext cx="8229600" cy="864096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Conclusion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223443"/>
            <a:ext cx="5904656" cy="41105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56176" y="1099344"/>
            <a:ext cx="286273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b="1" dirty="0" smtClean="0">
                <a:solidFill>
                  <a:srgbClr val="FF0000"/>
                </a:solidFill>
              </a:rPr>
              <a:t>Oxygen </a:t>
            </a:r>
            <a:r>
              <a:rPr lang="en-US" altLang="zh-CN" b="1" dirty="0">
                <a:solidFill>
                  <a:srgbClr val="FF0000"/>
                </a:solidFill>
              </a:rPr>
              <a:t>abundance evolves from a much lower value in the early universe to solar value as the universe ages.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Future Works: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Confirm on the line ratio extracted from papers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Analyze on more galaxies.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A more precise curve-fitting.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118920" y="6597352"/>
            <a:ext cx="2133600" cy="365125"/>
          </a:xfrm>
        </p:spPr>
        <p:txBody>
          <a:bodyPr/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Slide </a:t>
            </a:r>
            <a:fld id="{0C913308-F349-4B6D-A68A-DD1791B4A57B}" type="slidenum">
              <a:rPr lang="zh-CN" altLang="en-US" sz="1800" b="1">
                <a:solidFill>
                  <a:srgbClr val="FF0000"/>
                </a:solidFill>
              </a:rPr>
              <a:pPr/>
              <a:t>7</a:t>
            </a:fld>
            <a:endParaRPr lang="zh-CN" alt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063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13241"/>
            <a:ext cx="6264696" cy="6700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118920" y="6592267"/>
            <a:ext cx="2133600" cy="365125"/>
          </a:xfrm>
        </p:spPr>
        <p:txBody>
          <a:bodyPr/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Slide </a:t>
            </a:r>
            <a:fld id="{0C913308-F349-4B6D-A68A-DD1791B4A57B}" type="slidenum">
              <a:rPr lang="zh-CN" altLang="en-US" sz="1800" b="1">
                <a:solidFill>
                  <a:srgbClr val="FF0000"/>
                </a:solidFill>
              </a:rPr>
              <a:pPr/>
              <a:t>8</a:t>
            </a:fld>
            <a:endParaRPr lang="zh-CN" alt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275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2148</TotalTime>
  <Words>617</Words>
  <Application>Microsoft Office PowerPoint</Application>
  <PresentationFormat>全屏显示(4:3)</PresentationFormat>
  <Paragraphs>74</Paragraphs>
  <Slides>8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9" baseType="lpstr">
      <vt:lpstr>Office 主题</vt:lpstr>
      <vt:lpstr>JWST High Redshift Galaxies: Chemical Evolution of the Universe</vt:lpstr>
      <vt:lpstr>Introduction</vt:lpstr>
      <vt:lpstr>Method SPECTRA code</vt:lpstr>
      <vt:lpstr>Method</vt:lpstr>
      <vt:lpstr>Method</vt:lpstr>
      <vt:lpstr>Result – Oxygen Abundance vs Redshift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SURP25 Week 5 Summary</dc:title>
  <dc:creator>ASUS</dc:creator>
  <cp:lastModifiedBy>ASUS</cp:lastModifiedBy>
  <cp:revision>153</cp:revision>
  <dcterms:created xsi:type="dcterms:W3CDTF">2025-06-05T14:03:00Z</dcterms:created>
  <dcterms:modified xsi:type="dcterms:W3CDTF">2025-07-13T20:22:10Z</dcterms:modified>
</cp:coreProperties>
</file>