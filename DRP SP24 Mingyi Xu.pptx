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376" y="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2024/4/20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Some Ideas about Category Theory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Mingyi </a:t>
            </a:r>
            <a:r>
              <a:rPr lang="en-US" dirty="0" smtClean="0"/>
              <a:t>Xu</a:t>
            </a:r>
          </a:p>
          <a:p>
            <a:r>
              <a:rPr lang="en-US" altLang="zh-CN" dirty="0" smtClean="0"/>
              <a:t>Mentor: Daniel </a:t>
            </a:r>
            <a:r>
              <a:rPr lang="en-US" altLang="zh-CN" dirty="0" err="1" smtClean="0"/>
              <a:t>Wallick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710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 of Contents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Category Theory</a:t>
            </a:r>
          </a:p>
          <a:p>
            <a:r>
              <a:rPr lang="en-US" dirty="0" smtClean="0"/>
              <a:t>Isomorphism</a:t>
            </a:r>
          </a:p>
          <a:p>
            <a:r>
              <a:rPr lang="en-US" dirty="0" err="1" smtClean="0"/>
              <a:t>Monics</a:t>
            </a:r>
            <a:r>
              <a:rPr lang="en-US" dirty="0" smtClean="0"/>
              <a:t> and Epics</a:t>
            </a:r>
          </a:p>
          <a:p>
            <a:r>
              <a:rPr lang="en-US" dirty="0" smtClean="0"/>
              <a:t>Initial and Terminal Objects</a:t>
            </a:r>
          </a:p>
          <a:p>
            <a:r>
              <a:rPr lang="en-US" dirty="0" smtClean="0"/>
              <a:t>Products and </a:t>
            </a:r>
            <a:r>
              <a:rPr lang="en-US" dirty="0" err="1" smtClean="0"/>
              <a:t>Coproducts</a:t>
            </a:r>
            <a:endParaRPr lang="en-US" dirty="0" smtClean="0"/>
          </a:p>
          <a:p>
            <a:r>
              <a:rPr lang="en-US" dirty="0" smtClean="0"/>
              <a:t>My Feelings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493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Category Theory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334096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“Mathematics of Mathematics”</a:t>
                </a:r>
              </a:p>
              <a:p>
                <a:pPr marL="0" indent="0">
                  <a:buNone/>
                </a:pPr>
                <a:r>
                  <a:rPr lang="en-US" dirty="0" smtClean="0"/>
                  <a:t>Data: Objects and Arrows(</a:t>
                </a:r>
                <a:r>
                  <a:rPr lang="en-US" dirty="0" err="1" smtClean="0"/>
                  <a:t>Morphisms</a:t>
                </a:r>
                <a:r>
                  <a:rPr lang="en-US" dirty="0" smtClean="0"/>
                  <a:t>)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Structure: Identities and Composition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US" altLang="zh-CN" i="1" dirty="0" smtClean="0">
                          <a:latin typeface="Cambria Math"/>
                          <a:ea typeface="Cambria Math"/>
                        </a:rPr>
                        <m:t>→</m:t>
                      </m:r>
                      <m:r>
                        <a:rPr lang="en-US" altLang="zh-CN" b="0" i="1" dirty="0" smtClean="0"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US" altLang="zh-CN" b="0" i="1" dirty="0" smtClean="0">
                          <a:latin typeface="Cambria Math"/>
                          <a:ea typeface="Cambria Math"/>
                        </a:rPr>
                        <m:t>→</m:t>
                      </m:r>
                      <m:r>
                        <a:rPr lang="en-US" altLang="zh-CN" b="0" i="1" dirty="0" smtClean="0">
                          <a:latin typeface="Cambria Math"/>
                          <a:ea typeface="Cambria Math"/>
                        </a:rPr>
                        <m:t>𝑐</m:t>
                      </m:r>
                      <m:r>
                        <a:rPr lang="en-US" altLang="zh-CN" b="0" i="1" dirty="0" smtClean="0">
                          <a:latin typeface="Cambria Math"/>
                          <a:ea typeface="Cambria Math"/>
                        </a:rPr>
                        <m:t>        </m:t>
                      </m:r>
                      <m:r>
                        <a:rPr lang="en-US" altLang="zh-CN" b="0" i="1" dirty="0" smtClean="0"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US" altLang="zh-CN" b="0" i="1" dirty="0" smtClean="0">
                          <a:latin typeface="Cambria Math"/>
                          <a:ea typeface="Cambria Math"/>
                        </a:rPr>
                        <m:t>→</m:t>
                      </m:r>
                      <m:r>
                        <a:rPr lang="en-US" altLang="zh-CN" b="0" i="1" dirty="0" smtClean="0">
                          <a:latin typeface="Cambria Math"/>
                          <a:ea typeface="Cambria Math"/>
                        </a:rPr>
                        <m:t>𝑐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Properties: Unit </a:t>
                </a:r>
                <a:r>
                  <a:rPr lang="en-US" dirty="0" err="1" smtClean="0"/>
                  <a:t>Laws,Associativity</a:t>
                </a: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3340968"/>
              </a:xfrm>
              <a:blipFill rotWithShape="1">
                <a:blip r:embed="rId2"/>
                <a:stretch>
                  <a:fillRect l="-1852" t="-3832" b="-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表格 2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970440"/>
                  </p:ext>
                </p:extLst>
              </p:nvPr>
            </p:nvGraphicFramePr>
            <p:xfrm>
              <a:off x="1259632" y="5013176"/>
              <a:ext cx="6096000" cy="175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/>
                    <a:gridCol w="1524000"/>
                    <a:gridCol w="1524000"/>
                    <a:gridCol w="15240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Categories: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Set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Mat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Poset(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𝒁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+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 smtClean="0"/>
                            <a:t>,|)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Objects: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All Sets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i="1" dirty="0" smtClean="0"/>
                            <a:t>N</a:t>
                          </a:r>
                          <a:endParaRPr lang="en-US" b="1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/>
                                      </a:rPr>
                                      <m:t>𝒁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Morphisms</a:t>
                          </a:r>
                          <a:r>
                            <a:rPr lang="en-US" b="1" dirty="0" smtClean="0"/>
                            <a:t>: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Function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Matrix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Multiplication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Compositions: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Composition of Functions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Matrix</a:t>
                          </a:r>
                          <a:r>
                            <a:rPr lang="en-US" baseline="0" dirty="0" smtClean="0"/>
                            <a:t> Multiplication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Comp</a:t>
                          </a:r>
                          <a:r>
                            <a:rPr lang="en-US" baseline="0" dirty="0" smtClean="0"/>
                            <a:t> of Multiplication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表格 2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970440"/>
                  </p:ext>
                </p:extLst>
              </p:nvPr>
            </p:nvGraphicFramePr>
            <p:xfrm>
              <a:off x="1259632" y="5013176"/>
              <a:ext cx="6096000" cy="175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/>
                    <a:gridCol w="1524000"/>
                    <a:gridCol w="1524000"/>
                    <a:gridCol w="15240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Categories: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Set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Mat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300400" t="-8197" b="-39836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Objects: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All Sets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i="1" dirty="0" smtClean="0"/>
                            <a:t>N</a:t>
                          </a:r>
                          <a:endParaRPr lang="en-US" b="1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300400" t="-108197" b="-29836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Morphisms</a:t>
                          </a:r>
                          <a:r>
                            <a:rPr lang="en-US" b="1" dirty="0" smtClean="0"/>
                            <a:t>: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Function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Matrix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Multiplication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Compositions: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Composition of Functions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Matrix</a:t>
                          </a:r>
                          <a:r>
                            <a:rPr lang="en-US" baseline="0" dirty="0" smtClean="0"/>
                            <a:t> Multiplication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Comp</a:t>
                          </a:r>
                          <a:r>
                            <a:rPr lang="en-US" baseline="0" dirty="0" smtClean="0"/>
                            <a:t> of Multiplication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94945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Isomorphism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269289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 smtClean="0"/>
                  <a:t>Isomorphism is an invertible </a:t>
                </a:r>
                <a:r>
                  <a:rPr lang="en-US" sz="2400" dirty="0" err="1" smtClean="0"/>
                  <a:t>morphism</a:t>
                </a:r>
                <a:r>
                  <a:rPr lang="en-US" sz="2400" dirty="0" smtClean="0"/>
                  <a:t> in a category.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 smtClean="0"/>
                  <a:t>g and f are inverses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𝑔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°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𝑓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  <a:ea typeface="Cambria Math"/>
                      </a:rPr>
                      <m:t>  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𝑓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°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𝑔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400" dirty="0" smtClean="0"/>
                  <a:t> given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𝑓</m:t>
                      </m:r>
                      <m:r>
                        <a:rPr lang="en-US" sz="2400" b="0" i="1" smtClean="0">
                          <a:latin typeface="Cambria Math"/>
                        </a:rPr>
                        <m:t>:</m:t>
                      </m:r>
                      <m:r>
                        <a:rPr lang="en-US" sz="2400" b="0" i="1" smtClean="0">
                          <a:latin typeface="Cambria Math"/>
                        </a:rPr>
                        <m:t>𝑎</m:t>
                      </m:r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→</m:t>
                      </m:r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  </m:t>
                      </m:r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𝑔</m:t>
                      </m:r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:</m:t>
                      </m:r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→</m:t>
                      </m:r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𝑎</m:t>
                      </m:r>
                    </m:oMath>
                  </m:oMathPara>
                </a14:m>
                <a:endParaRPr lang="en-US" sz="2400" dirty="0" smtClean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 smtClean="0"/>
                  <a:t>In </a:t>
                </a:r>
                <a:r>
                  <a:rPr lang="en-US" sz="2400" b="1" dirty="0" smtClean="0"/>
                  <a:t>Set</a:t>
                </a:r>
                <a:r>
                  <a:rPr lang="en-US" sz="2400" dirty="0" smtClean="0"/>
                  <a:t>, </a:t>
                </a:r>
                <a:r>
                  <a:rPr lang="en-US" sz="2400" dirty="0" err="1" smtClean="0"/>
                  <a:t>Isomorphisms</a:t>
                </a:r>
                <a:r>
                  <a:rPr lang="en-US" sz="2400" dirty="0" smtClean="0"/>
                  <a:t> is equivalent to </a:t>
                </a:r>
                <a:r>
                  <a:rPr lang="en-US" sz="2400" dirty="0" err="1" smtClean="0"/>
                  <a:t>bijection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2692896"/>
              </a:xfrm>
              <a:blipFill rotWithShape="1">
                <a:blip r:embed="rId2"/>
                <a:stretch>
                  <a:fillRect l="-1111" t="-1814" b="-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647564" y="4797152"/>
            <a:ext cx="432048" cy="13681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</a:p>
          <a:p>
            <a:pPr algn="ctr"/>
            <a:r>
              <a:rPr lang="en-US" dirty="0" smtClean="0"/>
              <a:t>B</a:t>
            </a:r>
          </a:p>
          <a:p>
            <a:pPr algn="ctr"/>
            <a:r>
              <a:rPr lang="en-US" dirty="0" smtClean="0"/>
              <a:t>C</a:t>
            </a:r>
          </a:p>
        </p:txBody>
      </p:sp>
      <p:sp>
        <p:nvSpPr>
          <p:cNvPr id="9" name="矩形 8"/>
          <p:cNvSpPr/>
          <p:nvPr/>
        </p:nvSpPr>
        <p:spPr>
          <a:xfrm>
            <a:off x="1979712" y="4813852"/>
            <a:ext cx="432048" cy="13681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</a:p>
          <a:p>
            <a:pPr algn="ctr"/>
            <a:r>
              <a:rPr lang="en-US" dirty="0" smtClean="0"/>
              <a:t>2</a:t>
            </a:r>
          </a:p>
          <a:p>
            <a:pPr algn="ctr"/>
            <a:r>
              <a:rPr lang="en-US" dirty="0"/>
              <a:t>3</a:t>
            </a:r>
          </a:p>
        </p:txBody>
      </p:sp>
      <p:sp>
        <p:nvSpPr>
          <p:cNvPr id="14" name="矩形 13"/>
          <p:cNvSpPr/>
          <p:nvPr/>
        </p:nvSpPr>
        <p:spPr>
          <a:xfrm>
            <a:off x="3455876" y="4797152"/>
            <a:ext cx="432048" cy="13681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</a:p>
          <a:p>
            <a:pPr algn="ctr"/>
            <a:r>
              <a:rPr lang="en-US" dirty="0" smtClean="0"/>
              <a:t>B</a:t>
            </a:r>
          </a:p>
          <a:p>
            <a:pPr algn="ctr"/>
            <a:r>
              <a:rPr lang="en-US" dirty="0" smtClean="0"/>
              <a:t>C</a:t>
            </a:r>
          </a:p>
        </p:txBody>
      </p:sp>
      <p:sp>
        <p:nvSpPr>
          <p:cNvPr id="15" name="矩形 14"/>
          <p:cNvSpPr/>
          <p:nvPr/>
        </p:nvSpPr>
        <p:spPr>
          <a:xfrm>
            <a:off x="4788024" y="4813852"/>
            <a:ext cx="432048" cy="13681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20" name="矩形 19"/>
          <p:cNvSpPr/>
          <p:nvPr/>
        </p:nvSpPr>
        <p:spPr>
          <a:xfrm>
            <a:off x="6372200" y="4797152"/>
            <a:ext cx="432048" cy="13681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</a:p>
          <a:p>
            <a:pPr algn="ctr"/>
            <a:r>
              <a:rPr lang="en-US" dirty="0" smtClean="0"/>
              <a:t>B</a:t>
            </a:r>
          </a:p>
          <a:p>
            <a:pPr algn="ctr"/>
            <a:r>
              <a:rPr lang="en-US" dirty="0" smtClean="0"/>
              <a:t>C</a:t>
            </a:r>
          </a:p>
        </p:txBody>
      </p:sp>
      <p:sp>
        <p:nvSpPr>
          <p:cNvPr id="21" name="矩形 20"/>
          <p:cNvSpPr/>
          <p:nvPr/>
        </p:nvSpPr>
        <p:spPr>
          <a:xfrm>
            <a:off x="7704348" y="4813852"/>
            <a:ext cx="432048" cy="13681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</a:p>
          <a:p>
            <a:pPr algn="ctr"/>
            <a:r>
              <a:rPr lang="en-US" dirty="0" smtClean="0"/>
              <a:t>2</a:t>
            </a:r>
          </a:p>
          <a:p>
            <a:pPr algn="ctr"/>
            <a:r>
              <a:rPr lang="en-US" dirty="0"/>
              <a:t>3</a:t>
            </a:r>
          </a:p>
        </p:txBody>
      </p:sp>
      <p:cxnSp>
        <p:nvCxnSpPr>
          <p:cNvPr id="27" name="直接箭头连接符 26"/>
          <p:cNvCxnSpPr/>
          <p:nvPr/>
        </p:nvCxnSpPr>
        <p:spPr>
          <a:xfrm>
            <a:off x="1187624" y="5229200"/>
            <a:ext cx="720080" cy="2635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1187624" y="5506248"/>
            <a:ext cx="720080" cy="227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3995936" y="5229200"/>
            <a:ext cx="7200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3995936" y="5733256"/>
            <a:ext cx="7200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V="1">
            <a:off x="3994044" y="5229745"/>
            <a:ext cx="720080" cy="25148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V="1">
            <a:off x="6876256" y="5229200"/>
            <a:ext cx="828092" cy="2520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endCxn id="21" idx="1"/>
          </p:cNvCxnSpPr>
          <p:nvPr/>
        </p:nvCxnSpPr>
        <p:spPr>
          <a:xfrm>
            <a:off x="6876256" y="5229745"/>
            <a:ext cx="828092" cy="26818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6870649" y="5728368"/>
            <a:ext cx="797695" cy="48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34067" y="6237312"/>
            <a:ext cx="2627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Injection, 1 has no inverse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3069870" y="6225412"/>
            <a:ext cx="2755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Surjection, 1 has no inverse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6012160" y="6165304"/>
            <a:ext cx="26943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Bijection</a:t>
            </a:r>
            <a:r>
              <a:rPr lang="en-US" dirty="0" smtClean="0"/>
              <a:t>, every </a:t>
            </a:r>
            <a:r>
              <a:rPr lang="en-US" dirty="0" err="1" smtClean="0"/>
              <a:t>morphism</a:t>
            </a:r>
            <a:r>
              <a:rPr lang="en-US" dirty="0" smtClean="0"/>
              <a:t> </a:t>
            </a:r>
          </a:p>
          <a:p>
            <a:r>
              <a:rPr lang="en-US" dirty="0" smtClean="0"/>
              <a:t>is invertible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15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4" grpId="0" animBg="1"/>
      <p:bldP spid="15" grpId="0" animBg="1"/>
      <p:bldP spid="20" grpId="0" animBg="1"/>
      <p:bldP spid="21" grpId="0" animBg="1"/>
      <p:bldP spid="40" grpId="0"/>
      <p:bldP spid="44" grpId="0"/>
      <p:bldP spid="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Monics</a:t>
            </a:r>
            <a:r>
              <a:rPr lang="en-US" dirty="0" smtClean="0"/>
              <a:t> and Epics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069160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Monic is “Categorical </a:t>
                </a:r>
                <a:r>
                  <a:rPr lang="en-US" dirty="0" err="1" smtClean="0"/>
                  <a:t>Injectivity</a:t>
                </a:r>
                <a:r>
                  <a:rPr lang="en-US" dirty="0" smtClean="0"/>
                  <a:t>”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𝑓</m:t>
                    </m:r>
                    <m:r>
                      <a:rPr lang="en-US" sz="2000" b="0" i="1" smtClean="0">
                        <a:latin typeface="Cambria Math"/>
                      </a:rPr>
                      <m:t>:</m:t>
                    </m:r>
                    <m:r>
                      <a:rPr lang="en-US" sz="2000" b="0" i="1" smtClean="0">
                        <a:latin typeface="Cambria Math"/>
                      </a:rPr>
                      <m:t>𝑎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𝑏</m:t>
                    </m:r>
                  </m:oMath>
                </a14:m>
                <a:r>
                  <a:rPr lang="en-US" sz="2000" dirty="0" smtClean="0"/>
                  <a:t> is </a:t>
                </a:r>
                <a:r>
                  <a:rPr lang="en-US" sz="2000" dirty="0" err="1" smtClean="0"/>
                  <a:t>monic</a:t>
                </a:r>
                <a:r>
                  <a:rPr lang="en-US" sz="2000" dirty="0" smtClean="0"/>
                  <a:t> if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𝑠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𝑡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: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𝑐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 , 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𝑓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°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𝑠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𝑓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°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𝑡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⟹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𝑠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𝑡</m:t>
                    </m:r>
                  </m:oMath>
                </a14:m>
                <a:endParaRPr lang="en-US" sz="2000" dirty="0" smtClean="0"/>
              </a:p>
              <a:p>
                <a:r>
                  <a:rPr lang="en-US" dirty="0" smtClean="0"/>
                  <a:t>Epic is “Categorical </a:t>
                </a:r>
                <a:r>
                  <a:rPr lang="en-US" dirty="0" err="1" smtClean="0"/>
                  <a:t>Surjectivity</a:t>
                </a:r>
                <a:r>
                  <a:rPr lang="en-US" dirty="0" smtClean="0"/>
                  <a:t>”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𝑓</m:t>
                    </m:r>
                    <m:r>
                      <a:rPr lang="en-US" sz="2000" i="1">
                        <a:latin typeface="Cambria Math"/>
                      </a:rPr>
                      <m:t>:</m:t>
                    </m:r>
                    <m:r>
                      <a:rPr lang="en-US" sz="2000" i="1">
                        <a:latin typeface="Cambria Math"/>
                      </a:rPr>
                      <m:t>𝑎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𝑏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dirty="0" smtClean="0"/>
                  <a:t>epic </a:t>
                </a: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∀ 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𝑠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,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𝑡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: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𝑐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 , 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𝑠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°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𝑓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𝑡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°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𝑓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⟹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𝑠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𝑡</m:t>
                    </m:r>
                  </m:oMath>
                </a14:m>
                <a:endParaRPr lang="en-US" sz="2000" dirty="0" smtClean="0">
                  <a:ea typeface="Cambria Math"/>
                </a:endParaRPr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/>
                  <a:t>For </a:t>
                </a:r>
                <a:r>
                  <a:rPr lang="en-US" sz="2000" b="1" dirty="0" err="1" smtClean="0"/>
                  <a:t>Poset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dirty="0"/>
                      <m:t>(</m:t>
                    </m:r>
                    <m:sSup>
                      <m:sSupPr>
                        <m:ctrlPr>
                          <a:rPr lang="en-US" sz="2000" b="1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1" i="1" dirty="0" smtClean="0">
                            <a:latin typeface="Cambria Math"/>
                          </a:rPr>
                          <m:t>𝒁</m:t>
                        </m:r>
                      </m:e>
                      <m:sup>
                        <m:r>
                          <a:rPr lang="en-US" sz="2000" b="1" i="1" dirty="0" smtClean="0">
                            <a:latin typeface="Cambria Math"/>
                          </a:rPr>
                          <m:t>+</m:t>
                        </m:r>
                      </m:sup>
                    </m:sSup>
                    <m:r>
                      <m:rPr>
                        <m:nor/>
                      </m:rPr>
                      <a:rPr lang="en-US" sz="2000" b="1" dirty="0"/>
                      <m:t>,|)</m:t>
                    </m:r>
                  </m:oMath>
                </a14:m>
                <a:endParaRPr lang="en-US" sz="2000" b="1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Is it </a:t>
                </a:r>
                <a:r>
                  <a:rPr lang="en-US" sz="2000" dirty="0" err="1" smtClean="0"/>
                  <a:t>monic</a:t>
                </a:r>
                <a:r>
                  <a:rPr lang="en-US" sz="2000" dirty="0" smtClean="0"/>
                  <a:t>?</a:t>
                </a:r>
              </a:p>
              <a:p>
                <a:pPr marL="0" indent="0">
                  <a:buNone/>
                </a:pPr>
                <a:r>
                  <a:rPr lang="en-US" sz="2000" dirty="0" smtClean="0"/>
                  <a:t>Yes! We can at most have one </a:t>
                </a:r>
                <a:r>
                  <a:rPr lang="en-US" sz="2000" dirty="0" err="1" smtClean="0"/>
                  <a:t>morphism</a:t>
                </a:r>
                <a:r>
                  <a:rPr lang="en-US" sz="2000" dirty="0" smtClean="0"/>
                  <a:t> between any two objects in a </a:t>
                </a:r>
                <a:r>
                  <a:rPr lang="en-US" sz="2000" dirty="0" err="1" smtClean="0"/>
                  <a:t>Poset</a:t>
                </a:r>
                <a:r>
                  <a:rPr lang="en-US" sz="2000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 smtClean="0"/>
                  <a:t>Is it epic?</a:t>
                </a:r>
              </a:p>
              <a:p>
                <a:pPr marL="0" indent="0">
                  <a:buNone/>
                </a:pPr>
                <a:r>
                  <a:rPr lang="en-US" sz="2000" dirty="0" smtClean="0"/>
                  <a:t>Yes! By same idea…</a:t>
                </a:r>
              </a:p>
              <a:p>
                <a:pPr marL="0" indent="0">
                  <a:buNone/>
                </a:pPr>
                <a:r>
                  <a:rPr lang="en-US" sz="2000" dirty="0" smtClean="0"/>
                  <a:t>Then we know it is both </a:t>
                </a:r>
                <a:r>
                  <a:rPr lang="en-US" sz="2000" dirty="0" err="1" smtClean="0"/>
                  <a:t>monic</a:t>
                </a:r>
                <a:r>
                  <a:rPr lang="en-US" sz="2000" dirty="0" smtClean="0"/>
                  <a:t> and </a:t>
                </a:r>
                <a:r>
                  <a:rPr lang="en-US" sz="2000" dirty="0" err="1" smtClean="0"/>
                  <a:t>epic,is</a:t>
                </a:r>
                <a:r>
                  <a:rPr lang="en-US" sz="2000" dirty="0" smtClean="0"/>
                  <a:t> it isomorphism?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069160"/>
              </a:xfrm>
              <a:blipFill rotWithShape="1">
                <a:blip r:embed="rId2"/>
                <a:stretch>
                  <a:fillRect l="-1630" t="-1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16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476672"/>
                <a:ext cx="8229600" cy="564949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 smtClean="0"/>
                  <a:t>Both </a:t>
                </a:r>
                <a:r>
                  <a:rPr lang="en-US" altLang="zh-CN" dirty="0" err="1" smtClean="0"/>
                  <a:t>Monic</a:t>
                </a:r>
                <a:r>
                  <a:rPr lang="en-US" altLang="zh-CN" dirty="0" smtClean="0"/>
                  <a:t> and Epic</a:t>
                </a:r>
                <a:r>
                  <a:rPr lang="en-US" dirty="0" smtClean="0"/>
                  <a:t> does not mean isomorphism in </a:t>
                </a:r>
                <a:r>
                  <a:rPr lang="en-US" b="1" dirty="0" err="1" smtClean="0"/>
                  <a:t>Poset</a:t>
                </a:r>
                <a:endParaRPr lang="en-US" b="1" dirty="0" smtClean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For </a:t>
                </a:r>
                <a:r>
                  <a:rPr lang="en-US" sz="2000" b="1" dirty="0" err="1"/>
                  <a:t>Poset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dirty="0"/>
                      <m:t>(</m:t>
                    </m:r>
                    <m:sSup>
                      <m:sSupPr>
                        <m:ctrlPr>
                          <a:rPr lang="en-US" sz="2000" b="1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1" i="1" dirty="0">
                            <a:latin typeface="Cambria Math"/>
                          </a:rPr>
                          <m:t>𝒁</m:t>
                        </m:r>
                      </m:e>
                      <m:sup>
                        <m:r>
                          <a:rPr lang="en-US" sz="2000" b="1" i="1" dirty="0">
                            <a:latin typeface="Cambria Math"/>
                          </a:rPr>
                          <m:t>+</m:t>
                        </m:r>
                      </m:sup>
                    </m:sSup>
                    <m:r>
                      <m:rPr>
                        <m:nor/>
                      </m:rPr>
                      <a:rPr lang="en-US" sz="2000" b="1" dirty="0"/>
                      <m:t>,|)</m:t>
                    </m:r>
                  </m:oMath>
                </a14:m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Suppose we have 5</a:t>
                </a:r>
              </a:p>
              <a:p>
                <a:pPr marL="0" indent="0">
                  <a:buNone/>
                </a:pPr>
                <a:r>
                  <a:rPr lang="en-US" sz="2000" dirty="0" smtClean="0"/>
                  <a:t>By </a:t>
                </a:r>
                <a:r>
                  <a:rPr lang="en-US" sz="2000" dirty="0" err="1" smtClean="0"/>
                  <a:t>morphism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2</m:t>
                    </m:r>
                  </m:oMath>
                </a14:m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We got 10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 smtClean="0"/>
                  <a:t>No Integer to reverse this!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476672"/>
                <a:ext cx="8229600" cy="5649491"/>
              </a:xfrm>
              <a:blipFill rotWithShape="1">
                <a:blip r:embed="rId2"/>
                <a:stretch>
                  <a:fillRect l="-1852" t="-1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6356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Initial and Terminal Objects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262088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 smtClean="0"/>
                  <a:t>For an object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  <a:ea typeface="Cambria Math"/>
                      </a:rPr>
                      <m:t>in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𝒞</m:t>
                    </m:r>
                  </m:oMath>
                </a14:m>
                <a:r>
                  <a:rPr lang="en-US" sz="2000" dirty="0" smtClean="0"/>
                  <a:t>, we have an unique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𝑎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   ∀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  <a:ea typeface="Cambria Math"/>
                      </a:rPr>
                      <m:t>in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𝒞</m:t>
                    </m:r>
                  </m:oMath>
                </a14:m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US" sz="2000" dirty="0" smtClean="0"/>
                  <a:t> is an initial object.</a:t>
                </a:r>
              </a:p>
              <a:p>
                <a:pPr marL="0" indent="0">
                  <a:buNone/>
                </a:pPr>
                <a:r>
                  <a:rPr lang="en-US" sz="2000" dirty="0"/>
                  <a:t>For an object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000">
                        <a:latin typeface="Cambria Math"/>
                        <a:ea typeface="Cambria Math"/>
                      </a:rPr>
                      <m:t>in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𝒞</m:t>
                    </m:r>
                  </m:oMath>
                </a14:m>
                <a:r>
                  <a:rPr lang="en-US" sz="2000" dirty="0"/>
                  <a:t>, we have an unique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latin typeface="Cambria Math"/>
                        <a:ea typeface="Cambria Math"/>
                      </a:rPr>
                      <m:t>b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  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000">
                        <a:latin typeface="Cambria Math"/>
                        <a:ea typeface="Cambria Math"/>
                      </a:rPr>
                      <m:t>in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𝒞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𝑎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dirty="0" smtClean="0"/>
                  <a:t>a terminal object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In </a:t>
                </a:r>
                <a:r>
                  <a:rPr lang="en-US" sz="2000" b="1" dirty="0" smtClean="0"/>
                  <a:t>Set</a:t>
                </a:r>
                <a:r>
                  <a:rPr lang="en-US" sz="2000" dirty="0" smtClean="0"/>
                  <a:t>,</a:t>
                </a:r>
              </a:p>
              <a:p>
                <a:pPr marL="0" indent="0">
                  <a:buNone/>
                </a:pPr>
                <a:r>
                  <a:rPr lang="en-US" sz="2000" dirty="0" smtClean="0"/>
                  <a:t>Any set with one element is terminal.</a:t>
                </a:r>
              </a:p>
              <a:p>
                <a:pPr marL="0" indent="0">
                  <a:buNone/>
                </a:pPr>
                <a:endParaRPr lang="en-US" sz="2000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2620888"/>
              </a:xfrm>
              <a:blipFill rotWithShape="1">
                <a:blip r:embed="rId2"/>
                <a:stretch>
                  <a:fillRect l="-741" t="-1166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431540" y="4380196"/>
            <a:ext cx="432048" cy="13681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</a:p>
          <a:p>
            <a:pPr algn="ctr"/>
            <a:r>
              <a:rPr lang="en-US" dirty="0" smtClean="0"/>
              <a:t>B</a:t>
            </a:r>
          </a:p>
          <a:p>
            <a:pPr algn="ctr"/>
            <a:r>
              <a:rPr lang="en-US" dirty="0" smtClean="0"/>
              <a:t>C</a:t>
            </a:r>
          </a:p>
        </p:txBody>
      </p:sp>
      <p:sp>
        <p:nvSpPr>
          <p:cNvPr id="5" name="矩形 4"/>
          <p:cNvSpPr/>
          <p:nvPr/>
        </p:nvSpPr>
        <p:spPr>
          <a:xfrm>
            <a:off x="1763688" y="4396896"/>
            <a:ext cx="432048" cy="13681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r>
              <a:rPr lang="en-US" dirty="0"/>
              <a:t>*</a:t>
            </a:r>
            <a:endParaRPr lang="en-US" dirty="0" smtClean="0"/>
          </a:p>
          <a:p>
            <a:pPr algn="ctr"/>
            <a:endParaRPr lang="en-US" dirty="0"/>
          </a:p>
        </p:txBody>
      </p:sp>
      <p:cxnSp>
        <p:nvCxnSpPr>
          <p:cNvPr id="6" name="直接箭头连接符 5"/>
          <p:cNvCxnSpPr/>
          <p:nvPr/>
        </p:nvCxnSpPr>
        <p:spPr>
          <a:xfrm>
            <a:off x="971600" y="4812244"/>
            <a:ext cx="720080" cy="2635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971600" y="5089292"/>
            <a:ext cx="648072" cy="138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971600" y="5103134"/>
            <a:ext cx="720080" cy="2298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519772" y="4402358"/>
            <a:ext cx="432048" cy="13681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</a:p>
          <a:p>
            <a:pPr algn="ctr"/>
            <a:r>
              <a:rPr lang="en-US" dirty="0" smtClean="0"/>
              <a:t>B</a:t>
            </a:r>
          </a:p>
          <a:p>
            <a:pPr algn="ctr"/>
            <a:r>
              <a:rPr lang="en-US" dirty="0" smtClean="0"/>
              <a:t>C</a:t>
            </a:r>
          </a:p>
          <a:p>
            <a:pPr algn="ctr"/>
            <a:r>
              <a:rPr lang="en-US" dirty="0" smtClean="0"/>
              <a:t>……</a:t>
            </a:r>
          </a:p>
        </p:txBody>
      </p:sp>
      <p:sp>
        <p:nvSpPr>
          <p:cNvPr id="14" name="矩形 13"/>
          <p:cNvSpPr/>
          <p:nvPr/>
        </p:nvSpPr>
        <p:spPr>
          <a:xfrm>
            <a:off x="3851920" y="4419058"/>
            <a:ext cx="432048" cy="13681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r>
              <a:rPr lang="en-US" dirty="0"/>
              <a:t>*</a:t>
            </a:r>
            <a:endParaRPr lang="en-US" dirty="0" smtClean="0"/>
          </a:p>
          <a:p>
            <a:pPr algn="ctr"/>
            <a:endParaRPr lang="en-US" dirty="0"/>
          </a:p>
        </p:txBody>
      </p:sp>
      <p:cxnSp>
        <p:nvCxnSpPr>
          <p:cNvPr id="15" name="直接箭头连接符 14"/>
          <p:cNvCxnSpPr>
            <a:endCxn id="14" idx="1"/>
          </p:cNvCxnSpPr>
          <p:nvPr/>
        </p:nvCxnSpPr>
        <p:spPr>
          <a:xfrm>
            <a:off x="3059832" y="4521354"/>
            <a:ext cx="792088" cy="5817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endCxn id="14" idx="1"/>
          </p:cNvCxnSpPr>
          <p:nvPr/>
        </p:nvCxnSpPr>
        <p:spPr>
          <a:xfrm>
            <a:off x="3059832" y="4798402"/>
            <a:ext cx="792088" cy="3047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endCxn id="14" idx="1"/>
          </p:cNvCxnSpPr>
          <p:nvPr/>
        </p:nvCxnSpPr>
        <p:spPr>
          <a:xfrm>
            <a:off x="3059832" y="5042110"/>
            <a:ext cx="792088" cy="61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V="1">
            <a:off x="3059832" y="5140601"/>
            <a:ext cx="720080" cy="2298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endCxn id="14" idx="1"/>
          </p:cNvCxnSpPr>
          <p:nvPr/>
        </p:nvCxnSpPr>
        <p:spPr>
          <a:xfrm flipV="1">
            <a:off x="3059832" y="5103134"/>
            <a:ext cx="792088" cy="5346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716016" y="4439825"/>
            <a:ext cx="432048" cy="13681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</a:p>
          <a:p>
            <a:pPr algn="ctr"/>
            <a:r>
              <a:rPr lang="en-US" dirty="0" smtClean="0"/>
              <a:t>B</a:t>
            </a:r>
          </a:p>
          <a:p>
            <a:pPr algn="ctr"/>
            <a:r>
              <a:rPr lang="en-US" dirty="0" smtClean="0"/>
              <a:t>C</a:t>
            </a:r>
          </a:p>
        </p:txBody>
      </p:sp>
      <p:sp>
        <p:nvSpPr>
          <p:cNvPr id="25" name="矩形 24"/>
          <p:cNvSpPr/>
          <p:nvPr/>
        </p:nvSpPr>
        <p:spPr>
          <a:xfrm>
            <a:off x="6048164" y="4456525"/>
            <a:ext cx="432048" cy="13681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r>
              <a:rPr lang="en-US" dirty="0" smtClean="0"/>
              <a:t>*</a:t>
            </a:r>
          </a:p>
          <a:p>
            <a:pPr algn="ctr"/>
            <a:r>
              <a:rPr lang="en-US" dirty="0"/>
              <a:t>+</a:t>
            </a:r>
            <a:endParaRPr lang="en-US" dirty="0" smtClean="0"/>
          </a:p>
          <a:p>
            <a:pPr algn="ctr"/>
            <a:endParaRPr lang="en-US" dirty="0"/>
          </a:p>
        </p:txBody>
      </p:sp>
      <p:cxnSp>
        <p:nvCxnSpPr>
          <p:cNvPr id="26" name="直接箭头连接符 25"/>
          <p:cNvCxnSpPr/>
          <p:nvPr/>
        </p:nvCxnSpPr>
        <p:spPr>
          <a:xfrm>
            <a:off x="5256076" y="4871873"/>
            <a:ext cx="720080" cy="1317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V="1">
            <a:off x="5256076" y="5057941"/>
            <a:ext cx="720080" cy="909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V="1">
            <a:off x="5256076" y="5348831"/>
            <a:ext cx="720080" cy="437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6840252" y="4439825"/>
            <a:ext cx="432048" cy="13681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</a:p>
          <a:p>
            <a:pPr algn="ctr"/>
            <a:r>
              <a:rPr lang="en-US" dirty="0" smtClean="0"/>
              <a:t>B</a:t>
            </a:r>
          </a:p>
          <a:p>
            <a:pPr algn="ctr"/>
            <a:r>
              <a:rPr lang="en-US" dirty="0" smtClean="0"/>
              <a:t>C</a:t>
            </a:r>
          </a:p>
        </p:txBody>
      </p:sp>
      <p:sp>
        <p:nvSpPr>
          <p:cNvPr id="44" name="矩形 43"/>
          <p:cNvSpPr/>
          <p:nvPr/>
        </p:nvSpPr>
        <p:spPr>
          <a:xfrm>
            <a:off x="8172400" y="4456525"/>
            <a:ext cx="432048" cy="13681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r>
              <a:rPr lang="en-US" dirty="0" smtClean="0"/>
              <a:t>*</a:t>
            </a:r>
          </a:p>
          <a:p>
            <a:pPr algn="ctr"/>
            <a:r>
              <a:rPr lang="en-US" dirty="0"/>
              <a:t>+</a:t>
            </a:r>
            <a:endParaRPr lang="en-US" dirty="0" smtClean="0"/>
          </a:p>
          <a:p>
            <a:pPr algn="ctr"/>
            <a:endParaRPr lang="en-US" dirty="0"/>
          </a:p>
        </p:txBody>
      </p:sp>
      <p:cxnSp>
        <p:nvCxnSpPr>
          <p:cNvPr id="45" name="直接箭头连接符 44"/>
          <p:cNvCxnSpPr/>
          <p:nvPr/>
        </p:nvCxnSpPr>
        <p:spPr>
          <a:xfrm>
            <a:off x="7380312" y="4871873"/>
            <a:ext cx="720080" cy="1317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7380312" y="5148921"/>
            <a:ext cx="720080" cy="1066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 flipV="1">
            <a:off x="7380312" y="5255534"/>
            <a:ext cx="720080" cy="1370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4499992" y="4179321"/>
            <a:ext cx="0" cy="1944216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935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3" grpId="0" animBg="1"/>
      <p:bldP spid="14" grpId="0" animBg="1"/>
      <p:bldP spid="24" grpId="0" animBg="1"/>
      <p:bldP spid="25" grpId="0" animBg="1"/>
      <p:bldP spid="43" grpId="0" animBg="1"/>
      <p:bldP spid="4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501008"/>
                <a:ext cx="8229600" cy="262515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Also for </a:t>
                </a:r>
                <a:r>
                  <a:rPr lang="en-US" sz="2000" b="1" dirty="0"/>
                  <a:t>Poset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dirty="0"/>
                      <m:t>(</m:t>
                    </m:r>
                    <m:sSup>
                      <m:sSupPr>
                        <m:ctrlPr>
                          <a:rPr lang="en-US" sz="2000" b="1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1" i="1" dirty="0">
                            <a:latin typeface="Cambria Math"/>
                          </a:rPr>
                          <m:t>𝒁</m:t>
                        </m:r>
                      </m:e>
                      <m:sup>
                        <m:r>
                          <a:rPr lang="en-US" sz="2000" b="1" i="1" dirty="0">
                            <a:latin typeface="Cambria Math"/>
                          </a:rPr>
                          <m:t>+</m:t>
                        </m:r>
                      </m:sup>
                    </m:sSup>
                    <m:r>
                      <m:rPr>
                        <m:nor/>
                      </m:rPr>
                      <a:rPr lang="en-US" sz="2000" b="1" dirty="0"/>
                      <m:t>,|)</m:t>
                    </m:r>
                  </m:oMath>
                </a14:m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dirty="0"/>
                  <a:t>1 is initial</a:t>
                </a:r>
              </a:p>
              <a:p>
                <a:pPr marL="0" indent="0">
                  <a:buNone/>
                </a:pPr>
                <a:r>
                  <a:rPr lang="en-US" sz="2000" dirty="0"/>
                  <a:t>What about a terminal object in this category?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is no!</a:t>
                </a:r>
              </a:p>
              <a:p>
                <a:pPr marL="0" indent="0">
                  <a:buNone/>
                </a:pPr>
                <a:r>
                  <a:rPr lang="en-US" sz="2000" dirty="0"/>
                  <a:t>Constrain the objects of this </a:t>
                </a:r>
                <a:r>
                  <a:rPr lang="en-US" sz="2000" b="1" dirty="0" err="1"/>
                  <a:t>Poset</a:t>
                </a:r>
                <a:r>
                  <a:rPr lang="en-US" sz="2000" b="1" dirty="0"/>
                  <a:t> </a:t>
                </a:r>
                <a:r>
                  <a:rPr lang="en-US" sz="2000" dirty="0"/>
                  <a:t>to factors of positive integer Z, and up to Z</a:t>
                </a:r>
              </a:p>
              <a:p>
                <a:pPr marL="0" indent="0">
                  <a:buNone/>
                </a:pPr>
                <a:r>
                  <a:rPr lang="en-US" sz="2000" dirty="0"/>
                  <a:t>Then Z is a terminal object.</a:t>
                </a:r>
              </a:p>
              <a:p>
                <a:pPr marL="0" indent="0">
                  <a:buNone/>
                </a:pPr>
                <a:r>
                  <a:rPr lang="en-US" sz="2000" dirty="0"/>
                  <a:t>(Z is a least common multiple of all the elements here)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501008"/>
                <a:ext cx="8229600" cy="2625155"/>
              </a:xfrm>
              <a:blipFill rotWithShape="1">
                <a:blip r:embed="rId2"/>
                <a:stretch>
                  <a:fillRect l="-741" t="-1160" b="-2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内容占位符 2"/>
          <p:cNvSpPr txBox="1">
            <a:spLocks/>
          </p:cNvSpPr>
          <p:nvPr/>
        </p:nvSpPr>
        <p:spPr>
          <a:xfrm>
            <a:off x="457200" y="620689"/>
            <a:ext cx="8229600" cy="432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000" dirty="0" smtClean="0"/>
              <a:t>Empty Set is initial.</a:t>
            </a:r>
          </a:p>
          <a:p>
            <a:pPr marL="0" indent="0">
              <a:buFont typeface="Arial" pitchFamily="34" charset="0"/>
              <a:buNone/>
            </a:pPr>
            <a:endParaRPr 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575556" y="1340768"/>
            <a:ext cx="432048" cy="13681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</a:p>
          <a:p>
            <a:pPr algn="ctr"/>
            <a:r>
              <a:rPr lang="en-US" dirty="0" smtClean="0"/>
              <a:t>B</a:t>
            </a:r>
          </a:p>
          <a:p>
            <a:pPr algn="ctr"/>
            <a:r>
              <a:rPr lang="en-US" dirty="0" smtClean="0"/>
              <a:t>C</a:t>
            </a:r>
          </a:p>
        </p:txBody>
      </p:sp>
      <p:sp>
        <p:nvSpPr>
          <p:cNvPr id="6" name="矩形 5"/>
          <p:cNvSpPr/>
          <p:nvPr/>
        </p:nvSpPr>
        <p:spPr>
          <a:xfrm>
            <a:off x="1907704" y="1357468"/>
            <a:ext cx="432048" cy="13681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r>
              <a:rPr lang="en-US" dirty="0" smtClean="0"/>
              <a:t>*</a:t>
            </a:r>
          </a:p>
          <a:p>
            <a:pPr algn="ctr"/>
            <a:r>
              <a:rPr lang="en-US" dirty="0"/>
              <a:t>+</a:t>
            </a:r>
            <a:endParaRPr lang="en-US" dirty="0" smtClean="0"/>
          </a:p>
          <a:p>
            <a:pPr algn="ctr"/>
            <a:endParaRPr lang="en-US" dirty="0"/>
          </a:p>
        </p:txBody>
      </p:sp>
      <p:cxnSp>
        <p:nvCxnSpPr>
          <p:cNvPr id="7" name="直接箭头连接符 6"/>
          <p:cNvCxnSpPr/>
          <p:nvPr/>
        </p:nvCxnSpPr>
        <p:spPr>
          <a:xfrm>
            <a:off x="1115616" y="1772816"/>
            <a:ext cx="720080" cy="1317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1115616" y="1958884"/>
            <a:ext cx="720080" cy="909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1115616" y="2249774"/>
            <a:ext cx="720080" cy="437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2699792" y="1340768"/>
            <a:ext cx="432048" cy="13681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</a:p>
          <a:p>
            <a:pPr algn="ctr"/>
            <a:r>
              <a:rPr lang="en-US" dirty="0" smtClean="0"/>
              <a:t>B</a:t>
            </a:r>
          </a:p>
          <a:p>
            <a:pPr algn="ctr"/>
            <a:r>
              <a:rPr lang="en-US" dirty="0" smtClean="0"/>
              <a:t>C</a:t>
            </a:r>
          </a:p>
        </p:txBody>
      </p:sp>
      <p:sp>
        <p:nvSpPr>
          <p:cNvPr id="11" name="矩形 10"/>
          <p:cNvSpPr/>
          <p:nvPr/>
        </p:nvSpPr>
        <p:spPr>
          <a:xfrm>
            <a:off x="4031940" y="1357468"/>
            <a:ext cx="432048" cy="13681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r>
              <a:rPr lang="en-US" dirty="0" smtClean="0"/>
              <a:t>*</a:t>
            </a:r>
          </a:p>
          <a:p>
            <a:pPr algn="ctr"/>
            <a:r>
              <a:rPr lang="en-US" dirty="0"/>
              <a:t>+</a:t>
            </a:r>
            <a:endParaRPr lang="en-US" dirty="0" smtClean="0"/>
          </a:p>
          <a:p>
            <a:pPr algn="ctr"/>
            <a:endParaRPr lang="en-US" dirty="0"/>
          </a:p>
        </p:txBody>
      </p:sp>
      <p:cxnSp>
        <p:nvCxnSpPr>
          <p:cNvPr id="12" name="直接箭头连接符 11"/>
          <p:cNvCxnSpPr/>
          <p:nvPr/>
        </p:nvCxnSpPr>
        <p:spPr>
          <a:xfrm>
            <a:off x="3239852" y="1772816"/>
            <a:ext cx="720080" cy="1317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3239852" y="2049864"/>
            <a:ext cx="720080" cy="1066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3239852" y="2156477"/>
            <a:ext cx="720080" cy="1370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004048" y="1077756"/>
            <a:ext cx="0" cy="1944216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5508104" y="1365788"/>
            <a:ext cx="432048" cy="13681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</p:txBody>
      </p:sp>
      <p:sp>
        <p:nvSpPr>
          <p:cNvPr id="17" name="矩形 16"/>
          <p:cNvSpPr/>
          <p:nvPr/>
        </p:nvSpPr>
        <p:spPr>
          <a:xfrm>
            <a:off x="6804248" y="1365788"/>
            <a:ext cx="432048" cy="13681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r>
              <a:rPr lang="en-US" dirty="0" smtClean="0"/>
              <a:t>*</a:t>
            </a:r>
          </a:p>
          <a:p>
            <a:pPr algn="ctr"/>
            <a:r>
              <a:rPr lang="en-US" dirty="0"/>
              <a:t>+</a:t>
            </a:r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292080" y="2837306"/>
            <a:ext cx="2333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Only “Empty Function”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638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 animBg="1"/>
      <p:bldP spid="6" grpId="0" animBg="1"/>
      <p:bldP spid="10" grpId="0" animBg="1"/>
      <p:bldP spid="11" grpId="0" animBg="1"/>
      <p:bldP spid="16" grpId="0" animBg="1"/>
      <p:bldP spid="17" grpId="0" animBg="1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Products and </a:t>
            </a:r>
            <a:r>
              <a:rPr lang="en-US" dirty="0" err="1" smtClean="0"/>
              <a:t>Coproducts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5482952" cy="132474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2000" dirty="0" smtClean="0"/>
                  <a:t>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𝑎</m:t>
                    </m:r>
                    <m:r>
                      <a:rPr lang="en-US" sz="2000" b="0" i="1" smtClean="0">
                        <a:latin typeface="Cambria Math"/>
                      </a:rPr>
                      <m:t>,</m:t>
                    </m:r>
                    <m:r>
                      <a:rPr lang="en-US" sz="2000" b="0" i="1" smtClean="0">
                        <a:latin typeface="Cambria Math"/>
                      </a:rPr>
                      <m:t>𝑏</m:t>
                    </m:r>
                    <m:r>
                      <a:rPr lang="en-US" sz="2000" b="0" i="1" smtClean="0">
                        <a:latin typeface="Cambria Math"/>
                      </a:rPr>
                      <m:t> ∈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𝒞</m:t>
                    </m:r>
                  </m:oMath>
                </a14:m>
                <a:r>
                  <a:rPr lang="en-US" sz="2000" dirty="0" smtClean="0"/>
                  <a:t>, the product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𝑎</m:t>
                    </m:r>
                    <m:r>
                      <a:rPr lang="en-US" sz="2000" b="0" i="1" smtClean="0">
                        <a:latin typeface="Cambria Math"/>
                      </a:rPr>
                      <m:t>, </m:t>
                    </m:r>
                    <m:r>
                      <a:rPr lang="en-US" sz="2000" b="0" i="1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US" sz="2000" dirty="0" smtClean="0"/>
                  <a:t> is an object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𝑎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𝒞</m:t>
                    </m:r>
                  </m:oMath>
                </a14:m>
                <a:r>
                  <a:rPr lang="en-US" sz="2000" dirty="0" smtClean="0"/>
                  <a:t> with </a:t>
                </a:r>
                <a:r>
                  <a:rPr lang="en-US" sz="2000" dirty="0" err="1" smtClean="0"/>
                  <a:t>morphisms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𝑎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:</m:t>
                    </m:r>
                    <m:r>
                      <a:rPr lang="en-US" sz="2000" i="1">
                        <a:latin typeface="Cambria Math"/>
                      </a:rPr>
                      <m:t>𝑎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sz="200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  <a:ea typeface="Cambria Math"/>
                      </a:rPr>
                      <m:t>:</m:t>
                    </m:r>
                    <m:r>
                      <a:rPr lang="en-US" sz="2000" i="1">
                        <a:latin typeface="Cambria Math"/>
                      </a:rPr>
                      <m:t>𝑎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sz="200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𝑏</m:t>
                    </m:r>
                  </m:oMath>
                </a14:m>
                <a:r>
                  <a:rPr lang="en-US" sz="2000" dirty="0" smtClean="0"/>
                  <a:t> such that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𝑐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𝒞</m:t>
                    </m:r>
                  </m:oMath>
                </a14:m>
                <a:r>
                  <a:rPr lang="en-US" sz="2000" dirty="0" smtClean="0"/>
                  <a:t>, </a:t>
                </a:r>
                <a:r>
                  <a:rPr lang="en-US" sz="2000" dirty="0" err="1" smtClean="0"/>
                  <a:t>morphisms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:</m:t>
                    </m:r>
                    <m:r>
                      <a:rPr lang="en-US" sz="2000" b="0" i="1" smtClean="0">
                        <a:latin typeface="Cambria Math"/>
                      </a:rPr>
                      <m:t>𝑐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  <a:ea typeface="Cambria Math"/>
                      </a:rPr>
                      <m:t>: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𝑐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𝑏</m:t>
                    </m:r>
                  </m:oMath>
                </a14:m>
                <a:r>
                  <a:rPr lang="en-US" sz="2000" dirty="0" smtClean="0"/>
                  <a:t>, there exist an unique morphism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𝑘</m:t>
                    </m:r>
                    <m:r>
                      <a:rPr lang="en-US" sz="2000" b="0" i="1" smtClean="0">
                        <a:latin typeface="Cambria Math"/>
                      </a:rPr>
                      <m:t>:</m:t>
                    </m:r>
                    <m:r>
                      <a:rPr lang="en-US" sz="2000" b="0" i="1" smtClean="0">
                        <a:latin typeface="Cambria Math"/>
                      </a:rPr>
                      <m:t>𝑐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2000" i="1">
                        <a:latin typeface="Cambria Math"/>
                      </a:rPr>
                      <m:t>𝑎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𝑏</m:t>
                    </m:r>
                  </m:oMath>
                </a14:m>
                <a:r>
                  <a:rPr lang="en-US" sz="2000" dirty="0" smtClean="0"/>
                  <a:t>, which satisfies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𝑎</m:t>
                        </m:r>
                      </m:sub>
                    </m:sSub>
                    <m:r>
                      <a:rPr lang="en-US" sz="2000" i="1" smtClean="0">
                        <a:latin typeface="Cambria Math"/>
                        <a:ea typeface="Cambria Math"/>
                      </a:rPr>
                      <m:t>°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𝑘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  <a:ea typeface="Cambria Math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  <a:ea typeface="Cambria Math"/>
                      </a:rPr>
                      <m:t>°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𝑘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5482952" cy="1324744"/>
              </a:xfrm>
              <a:blipFill rotWithShape="1">
                <a:blip r:embed="rId2"/>
                <a:stretch>
                  <a:fillRect l="-1001" t="-5991" b="-2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/>
              <p:cNvSpPr txBox="1">
                <a:spLocks/>
              </p:cNvSpPr>
              <p:nvPr/>
            </p:nvSpPr>
            <p:spPr>
              <a:xfrm>
                <a:off x="457200" y="4005064"/>
                <a:ext cx="5482952" cy="13247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dirty="0" smtClean="0"/>
                  <a:t>For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</a:rPr>
                      <m:t>𝑎</m:t>
                    </m:r>
                    <m:r>
                      <a:rPr lang="en-US" sz="2000" i="1" smtClean="0">
                        <a:latin typeface="Cambria Math"/>
                      </a:rPr>
                      <m:t>,</m:t>
                    </m:r>
                    <m:r>
                      <a:rPr lang="en-US" sz="2000" i="1" smtClean="0">
                        <a:latin typeface="Cambria Math"/>
                      </a:rPr>
                      <m:t>𝑏</m:t>
                    </m:r>
                    <m:r>
                      <a:rPr lang="en-US" sz="2000" i="1" smtClean="0">
                        <a:latin typeface="Cambria Math"/>
                      </a:rPr>
                      <m:t> ∈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𝒞</m:t>
                    </m:r>
                  </m:oMath>
                </a14:m>
                <a:r>
                  <a:rPr lang="en-US" sz="2000" dirty="0" smtClean="0"/>
                  <a:t>, the </a:t>
                </a:r>
                <a:r>
                  <a:rPr lang="en-US" sz="2000" dirty="0" err="1" smtClean="0"/>
                  <a:t>coproduct</a:t>
                </a:r>
                <a:r>
                  <a:rPr lang="en-US" sz="2000" dirty="0" smtClean="0"/>
                  <a:t> of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</a:rPr>
                      <m:t>𝑎</m:t>
                    </m:r>
                    <m:r>
                      <a:rPr lang="en-US" sz="2000" i="1" smtClean="0">
                        <a:latin typeface="Cambria Math"/>
                      </a:rPr>
                      <m:t>, </m:t>
                    </m:r>
                    <m:r>
                      <a:rPr lang="en-US" sz="2000" i="1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US" sz="2000" dirty="0" smtClean="0"/>
                  <a:t> is an object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</a:rPr>
                      <m:t>𝑎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∐</m:t>
                    </m:r>
                    <m:r>
                      <a:rPr lang="en-US" sz="200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sz="200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𝒞</m:t>
                    </m:r>
                  </m:oMath>
                </a14:m>
                <a:r>
                  <a:rPr lang="en-US" sz="2000" dirty="0" smtClean="0"/>
                  <a:t> with </a:t>
                </a:r>
                <a:r>
                  <a:rPr lang="en-US" sz="2000" dirty="0" err="1" smtClean="0"/>
                  <a:t>morphisms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000" i="1" smtClean="0">
                            <a:latin typeface="Cambria Math"/>
                          </a:rPr>
                          <m:t>𝑎</m:t>
                        </m:r>
                      </m:sub>
                    </m:sSub>
                    <m:r>
                      <a:rPr lang="en-US" sz="2000" i="1" smtClean="0">
                        <a:latin typeface="Cambria Math"/>
                      </a:rPr>
                      <m:t>:</m:t>
                    </m:r>
                    <m:r>
                      <a:rPr lang="en-US" sz="2000" b="0" i="1" smtClean="0">
                        <a:latin typeface="Cambria Math"/>
                      </a:rPr>
                      <m:t>𝑎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2000" i="1">
                        <a:latin typeface="Cambria Math"/>
                      </a:rPr>
                      <m:t>𝑎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∐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sz="2000" i="1" smtClean="0">
                        <a:latin typeface="Cambria Math"/>
                        <a:ea typeface="Cambria Math"/>
                      </a:rPr>
                      <m:t>, </m:t>
                    </m:r>
                    <m:sSub>
                      <m:sSubPr>
                        <m:ctrlPr>
                          <a:rPr lang="en-US" sz="200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sz="2000" i="1" smtClean="0">
                            <a:latin typeface="Cambria Math"/>
                            <a:ea typeface="Cambria Math"/>
                          </a:rPr>
                          <m:t>𝑏</m:t>
                        </m:r>
                      </m:sub>
                    </m:sSub>
                    <m:r>
                      <a:rPr lang="en-US" sz="2000" i="1" smtClean="0">
                        <a:latin typeface="Cambria Math"/>
                        <a:ea typeface="Cambria Math"/>
                      </a:rPr>
                      <m:t>: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2000" i="1">
                        <a:latin typeface="Cambria Math"/>
                      </a:rPr>
                      <m:t>𝑎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∐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𝑏</m:t>
                    </m:r>
                  </m:oMath>
                </a14:m>
                <a:r>
                  <a:rPr lang="en-US" sz="2000" dirty="0" smtClean="0"/>
                  <a:t> such that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sz="2000" i="1" smtClean="0">
                        <a:latin typeface="Cambria Math"/>
                        <a:ea typeface="Cambria Math"/>
                      </a:rPr>
                      <m:t>𝑐</m:t>
                    </m:r>
                    <m:r>
                      <a:rPr lang="en-US" sz="200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𝒞</m:t>
                    </m:r>
                  </m:oMath>
                </a14:m>
                <a:r>
                  <a:rPr lang="en-US" sz="2000" dirty="0" smtClean="0"/>
                  <a:t>, </a:t>
                </a:r>
                <a:r>
                  <a:rPr lang="en-US" sz="2000" dirty="0" err="1" smtClean="0"/>
                  <a:t>morphisms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i="1" smtClean="0">
                        <a:latin typeface="Cambria Math"/>
                      </a:rPr>
                      <m:t>:</m:t>
                    </m:r>
                    <m:r>
                      <a:rPr lang="en-US" sz="2000" b="0" i="1" smtClean="0">
                        <a:latin typeface="Cambria Math"/>
                      </a:rPr>
                      <m:t>𝑎</m:t>
                    </m:r>
                    <m:r>
                      <a:rPr lang="en-US" sz="200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𝑐</m:t>
                    </m:r>
                    <m:r>
                      <a:rPr lang="en-US" sz="2000" i="1" smtClean="0">
                        <a:latin typeface="Cambria Math"/>
                        <a:ea typeface="Cambria Math"/>
                      </a:rPr>
                      <m:t>, </m:t>
                    </m:r>
                    <m:sSub>
                      <m:sSubPr>
                        <m:ctrlPr>
                          <a:rPr lang="en-US" sz="200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/>
                            <a:ea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sz="2000" i="1" smtClean="0">
                        <a:latin typeface="Cambria Math"/>
                        <a:ea typeface="Cambria Math"/>
                      </a:rPr>
                      <m:t>: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sz="200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𝑐</m:t>
                    </m:r>
                  </m:oMath>
                </a14:m>
                <a:r>
                  <a:rPr lang="en-US" sz="2000" dirty="0" smtClean="0"/>
                  <a:t>, there exist an unique morphism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</a:rPr>
                      <m:t>𝑘</m:t>
                    </m:r>
                    <m:r>
                      <a:rPr lang="en-US" sz="2000" i="1" smtClean="0">
                        <a:latin typeface="Cambria Math"/>
                      </a:rPr>
                      <m:t>:</m:t>
                    </m:r>
                    <m:r>
                      <a:rPr lang="en-US" sz="2000" i="1">
                        <a:latin typeface="Cambria Math"/>
                      </a:rPr>
                      <m:t>𝑎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∐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sz="200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𝑐</m:t>
                    </m:r>
                  </m:oMath>
                </a14:m>
                <a:r>
                  <a:rPr lang="en-US" sz="2000" dirty="0" smtClean="0"/>
                  <a:t>, which satisfies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°</m:t>
                        </m:r>
                        <m:r>
                          <a:rPr lang="en-US" sz="200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000" i="1" smtClean="0">
                            <a:latin typeface="Cambria Math"/>
                          </a:rPr>
                          <m:t>𝑎</m:t>
                        </m:r>
                      </m:sub>
                    </m:sSub>
                    <m:r>
                      <a:rPr lang="en-US" sz="2000" i="1" smtClean="0"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sz="200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/>
                            <a:ea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sz="2000" i="1" smtClean="0">
                        <a:latin typeface="Cambria Math"/>
                        <a:ea typeface="Cambria Math"/>
                      </a:rPr>
                      <m:t>, 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𝑘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°</m:t>
                    </m:r>
                    <m:sSub>
                      <m:sSubPr>
                        <m:ctrlPr>
                          <a:rPr lang="en-US" sz="200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sz="2000" i="1" smtClean="0">
                            <a:latin typeface="Cambria Math"/>
                            <a:ea typeface="Cambria Math"/>
                          </a:rPr>
                          <m:t>𝑏</m:t>
                        </m:r>
                      </m:sub>
                    </m:sSub>
                    <m:r>
                      <a:rPr lang="en-US" sz="2000" i="1" smtClean="0"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sz="200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/>
                            <a:ea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5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005064"/>
                <a:ext cx="5482952" cy="1324744"/>
              </a:xfrm>
              <a:prstGeom prst="rect">
                <a:avLst/>
              </a:prstGeom>
              <a:blipFill rotWithShape="1">
                <a:blip r:embed="rId3"/>
                <a:stretch>
                  <a:fillRect l="-1001" t="-5991"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1499792"/>
            <a:ext cx="2304256" cy="3856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093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60648"/>
                <a:ext cx="5698976" cy="640871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 smtClean="0"/>
                  <a:t>For </a:t>
                </a:r>
                <a:r>
                  <a:rPr lang="en-US" sz="2000" b="1" dirty="0" smtClean="0"/>
                  <a:t>Set</a:t>
                </a:r>
                <a:r>
                  <a:rPr lang="en-US" sz="2000" dirty="0" smtClean="0"/>
                  <a:t>,</a:t>
                </a:r>
              </a:p>
              <a:p>
                <a:pPr marL="0" indent="0">
                  <a:buNone/>
                </a:pPr>
                <a:r>
                  <a:rPr lang="en-US" sz="2000" dirty="0" smtClean="0"/>
                  <a:t>If have two sets A and B,</a:t>
                </a:r>
              </a:p>
              <a:p>
                <a:pPr marL="0" indent="0">
                  <a:buNone/>
                </a:pPr>
                <a:r>
                  <a:rPr lang="en-US" sz="2000" dirty="0" smtClean="0"/>
                  <a:t>The product is (a, b)</a:t>
                </a:r>
              </a:p>
              <a:p>
                <a:pPr marL="0" indent="0">
                  <a:buNone/>
                </a:pPr>
                <a:r>
                  <a:rPr lang="en-US" sz="2000" dirty="0" smtClean="0"/>
                  <a:t>Construct:</a:t>
                </a:r>
              </a:p>
              <a:p>
                <a:pPr marL="0" indent="0">
                  <a:buNone/>
                </a:pPr>
                <a:r>
                  <a:rPr lang="en-US" sz="2000" dirty="0"/>
                  <a:t>C</a:t>
                </a:r>
                <a:r>
                  <a:rPr lang="en-US" sz="2000" dirty="0" smtClean="0"/>
                  <a:t> is the any other set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𝑏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𝑎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; </m:t>
                          </m:r>
                          <m:r>
                            <a:rPr lang="en-US" sz="2000" i="1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𝑎</m:t>
                          </m:r>
                          <m:r>
                            <a:rPr lang="en-US" sz="2000" i="1">
                              <a:latin typeface="Cambria Math"/>
                            </a:rPr>
                            <m:t>, </m:t>
                          </m:r>
                          <m:r>
                            <a:rPr lang="en-US" sz="2000" i="1">
                              <a:latin typeface="Cambria Math"/>
                            </a:rPr>
                            <m:t>𝑏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𝑘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,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;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𝑐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)=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𝑏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The </a:t>
                </a:r>
                <a:r>
                  <a:rPr lang="en-US" sz="2000" dirty="0" err="1" smtClean="0"/>
                  <a:t>coproduct</a:t>
                </a:r>
                <a:r>
                  <a:rPr lang="en-US" sz="2000" dirty="0" smtClean="0"/>
                  <a:t> is a </a:t>
                </a:r>
                <a:r>
                  <a:rPr lang="en-US" sz="2000" b="1" dirty="0" smtClean="0"/>
                  <a:t>disjoint union</a:t>
                </a:r>
                <a:r>
                  <a:rPr lang="en-US" sz="2000" dirty="0" smtClean="0"/>
                  <a:t> of A and B.</a:t>
                </a:r>
              </a:p>
              <a:p>
                <a:pPr marL="0" indent="0">
                  <a:buNone/>
                </a:pPr>
                <a:r>
                  <a:rPr lang="en-US" sz="2000" dirty="0" smtClean="0"/>
                  <a:t>Example of disjoint union: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𝐼𝑓</m:t>
                      </m:r>
                      <m:r>
                        <a:rPr lang="en-US" sz="2000" b="0" i="1" smtClean="0">
                          <a:latin typeface="Cambria Math"/>
                        </a:rPr>
                        <m:t> </m:t>
                      </m:r>
                      <m:r>
                        <a:rPr lang="en-US" sz="2000" b="0" i="1" smtClean="0">
                          <a:latin typeface="Cambria Math"/>
                        </a:rPr>
                        <m:t>𝑎</m:t>
                      </m:r>
                      <m:r>
                        <a:rPr lang="en-US" sz="2000" b="0" i="1" smtClean="0">
                          <a:latin typeface="Cambria Math"/>
                        </a:rPr>
                        <m:t>,</m:t>
                      </m:r>
                      <m:r>
                        <a:rPr lang="en-US" sz="2000" b="0" i="1" smtClean="0">
                          <a:latin typeface="Cambria Math"/>
                        </a:rPr>
                        <m:t>𝑏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∈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𝑋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;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,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𝑐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∈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𝑌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,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𝑋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∐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𝑌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={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𝑋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𝑋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𝑌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𝑌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}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Construct: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𝑎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;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 </m:t>
                          </m:r>
                          <m:r>
                            <a:rPr lang="en-US" sz="2000" i="1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𝑏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𝑏</m:t>
                      </m:r>
                      <m:r>
                        <a:rPr lang="en-US" sz="2000" b="0" i="1" smtClean="0">
                          <a:latin typeface="Cambria Math"/>
                        </a:rPr>
                        <m:t> </m:t>
                      </m:r>
                      <m:r>
                        <a:rPr lang="en-US" sz="2000" b="0" i="0" smtClean="0">
                          <a:latin typeface="Cambria Math"/>
                        </a:rPr>
                        <m:t>"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/>
                        </a:rPr>
                        <m:t>result</m:t>
                      </m:r>
                      <m:r>
                        <a:rPr lang="en-US" sz="2000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/>
                        </a:rPr>
                        <m:t>in</m:t>
                      </m:r>
                      <m:r>
                        <a:rPr lang="en-US" sz="2000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/>
                        </a:rPr>
                        <m:t>a</m:t>
                      </m:r>
                      <m:r>
                        <a:rPr lang="en-US" sz="2000" i="0">
                          <a:latin typeface="Cambria Math"/>
                          <a:ea typeface="Cambria Math"/>
                        </a:rPr>
                        <m:t>∐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/>
                          <a:ea typeface="Cambria Math"/>
                        </a:rPr>
                        <m:t>b</m:t>
                      </m:r>
                      <m:r>
                        <a:rPr lang="en-US" sz="2000" b="0" i="0" smtClean="0">
                          <a:latin typeface="Cambria Math"/>
                        </a:rPr>
                        <m:t>"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𝑘</m:t>
                      </m:r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)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𝑖𝑓𝑥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∈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𝐴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b="0" i="0" smtClean="0">
                          <a:latin typeface="Cambria Math"/>
                        </a:rPr>
                        <m:t>or</m:t>
                      </m:r>
                      <m:r>
                        <a:rPr lang="en-US" sz="2000" b="0" i="1" smtClean="0">
                          <a:latin typeface="Cambria Math"/>
                        </a:rPr>
                        <m:t> (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(</m:t>
                      </m:r>
                      <m:r>
                        <a:rPr lang="en-US" sz="2000" i="1">
                          <a:latin typeface="Cambria Math"/>
                        </a:rPr>
                        <m:t>𝑥</m:t>
                      </m:r>
                      <m:r>
                        <a:rPr lang="en-US" sz="2000" i="1">
                          <a:latin typeface="Cambria Math"/>
                        </a:rPr>
                        <m:t>) </m:t>
                      </m:r>
                      <m:r>
                        <a:rPr lang="en-US" sz="2000" i="1">
                          <a:latin typeface="Cambria Math"/>
                        </a:rPr>
                        <m:t>𝑖𝑓𝑥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∈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𝐵</m:t>
                      </m:r>
                      <m:r>
                        <a:rPr lang="en-US" sz="20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𝑎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𝑐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; 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𝑐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60648"/>
                <a:ext cx="5698976" cy="6408712"/>
              </a:xfrm>
              <a:blipFill rotWithShape="1">
                <a:blip r:embed="rId2"/>
                <a:stretch>
                  <a:fillRect l="-1070" t="-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1499792"/>
            <a:ext cx="2304256" cy="3856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230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20688"/>
                <a:ext cx="5770984" cy="55054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 smtClean="0"/>
                  <a:t>For</a:t>
                </a:r>
                <a:r>
                  <a:rPr lang="en-US" sz="2000" b="1" dirty="0" smtClean="0"/>
                  <a:t> </a:t>
                </a:r>
                <a:r>
                  <a:rPr lang="en-US" sz="2000" b="1" dirty="0" err="1" smtClean="0"/>
                  <a:t>Poset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dirty="0"/>
                      <m:t>(</m:t>
                    </m:r>
                    <m:sSup>
                      <m:sSupPr>
                        <m:ctrlPr>
                          <a:rPr lang="en-US" sz="2000" b="1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1" i="1" dirty="0">
                            <a:latin typeface="Cambria Math"/>
                          </a:rPr>
                          <m:t>𝒁</m:t>
                        </m:r>
                      </m:e>
                      <m:sup>
                        <m:r>
                          <a:rPr lang="en-US" sz="2000" b="1" i="1" dirty="0">
                            <a:latin typeface="Cambria Math"/>
                          </a:rPr>
                          <m:t>+</m:t>
                        </m:r>
                      </m:sup>
                    </m:sSup>
                    <m:r>
                      <m:rPr>
                        <m:nor/>
                      </m:rPr>
                      <a:rPr lang="en-US" sz="2000" b="1" dirty="0"/>
                      <m:t>,|)</m:t>
                    </m:r>
                  </m:oMath>
                </a14:m>
                <a:r>
                  <a:rPr lang="en-US" sz="2000" dirty="0" smtClean="0"/>
                  <a:t>,</a:t>
                </a:r>
              </a:p>
              <a:p>
                <a:pPr marL="0" indent="0">
                  <a:buNone/>
                </a:pPr>
                <a:r>
                  <a:rPr lang="en-US" sz="2000" dirty="0" smtClean="0"/>
                  <a:t>In product,</a:t>
                </a:r>
              </a:p>
              <a:p>
                <a:pPr marL="0" indent="0">
                  <a:buNone/>
                </a:pPr>
                <a:r>
                  <a:rPr lang="en-US" sz="2000" dirty="0" smtClean="0"/>
                  <a:t>d is a factor of a and b,</a:t>
                </a:r>
              </a:p>
              <a:p>
                <a:pPr marL="0" indent="0">
                  <a:buNone/>
                </a:pPr>
                <a:r>
                  <a:rPr lang="en-US" sz="2000" dirty="0" smtClean="0"/>
                  <a:t>c are any factors of a and b,</a:t>
                </a:r>
              </a:p>
              <a:p>
                <a:pPr marL="0" indent="0">
                  <a:buNone/>
                </a:pPr>
                <a:r>
                  <a:rPr lang="en-US" sz="2000" dirty="0" smtClean="0"/>
                  <a:t>If any factors of a and b are factors of d…</a:t>
                </a:r>
              </a:p>
              <a:p>
                <a:pPr marL="0" indent="0">
                  <a:buNone/>
                </a:pPr>
                <a:r>
                  <a:rPr lang="en-US" sz="2000" b="1" dirty="0" smtClean="0"/>
                  <a:t>d=</a:t>
                </a:r>
                <a:r>
                  <a:rPr lang="en-US" sz="2000" b="1" dirty="0" err="1"/>
                  <a:t>g</a:t>
                </a:r>
                <a:r>
                  <a:rPr lang="en-US" sz="2000" b="1" dirty="0" err="1" smtClean="0"/>
                  <a:t>cd</a:t>
                </a:r>
                <a:r>
                  <a:rPr lang="en-US" sz="2000" b="1" dirty="0" smtClean="0"/>
                  <a:t>(</a:t>
                </a:r>
                <a:r>
                  <a:rPr lang="en-US" sz="2000" b="1" dirty="0" err="1" smtClean="0"/>
                  <a:t>a,b</a:t>
                </a:r>
                <a:r>
                  <a:rPr lang="en-US" sz="2000" b="1" dirty="0" smtClean="0"/>
                  <a:t>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In </a:t>
                </a:r>
                <a:r>
                  <a:rPr lang="en-US" sz="2000" dirty="0" err="1" smtClean="0"/>
                  <a:t>coproduct</a:t>
                </a:r>
                <a:r>
                  <a:rPr lang="en-US" sz="2000" dirty="0"/>
                  <a:t>,</a:t>
                </a:r>
              </a:p>
              <a:p>
                <a:pPr marL="0" indent="0">
                  <a:buNone/>
                </a:pPr>
                <a:r>
                  <a:rPr lang="en-US" sz="2000" dirty="0"/>
                  <a:t>d is a </a:t>
                </a:r>
                <a:r>
                  <a:rPr lang="en-US" sz="2000" dirty="0" smtClean="0"/>
                  <a:t>multiplier </a:t>
                </a:r>
                <a:r>
                  <a:rPr lang="en-US" sz="2000" dirty="0"/>
                  <a:t>of a and b,</a:t>
                </a:r>
              </a:p>
              <a:p>
                <a:pPr marL="0" indent="0">
                  <a:buNone/>
                </a:pPr>
                <a:r>
                  <a:rPr lang="en-US" sz="2000" dirty="0"/>
                  <a:t>c are any </a:t>
                </a:r>
                <a:r>
                  <a:rPr lang="en-US" sz="2000" dirty="0" smtClean="0"/>
                  <a:t>multipliers </a:t>
                </a:r>
                <a:r>
                  <a:rPr lang="en-US" sz="2000" dirty="0"/>
                  <a:t>of a and b,</a:t>
                </a:r>
              </a:p>
              <a:p>
                <a:pPr marL="0" indent="0">
                  <a:buNone/>
                </a:pPr>
                <a:r>
                  <a:rPr lang="en-US" sz="2000" dirty="0"/>
                  <a:t>If any </a:t>
                </a:r>
                <a:r>
                  <a:rPr lang="en-US" sz="2000" dirty="0" smtClean="0"/>
                  <a:t>other multiplier </a:t>
                </a:r>
                <a:r>
                  <a:rPr lang="en-US" sz="2000" dirty="0"/>
                  <a:t>of a and b are </a:t>
                </a:r>
                <a:r>
                  <a:rPr lang="en-US" sz="2000" dirty="0" smtClean="0"/>
                  <a:t>multipliers </a:t>
                </a:r>
                <a:r>
                  <a:rPr lang="en-US" sz="2000" dirty="0"/>
                  <a:t>of d…</a:t>
                </a:r>
              </a:p>
              <a:p>
                <a:pPr marL="0" indent="0">
                  <a:buNone/>
                </a:pPr>
                <a:r>
                  <a:rPr lang="en-US" sz="2000" b="1" dirty="0" smtClean="0"/>
                  <a:t>d=</a:t>
                </a:r>
                <a:r>
                  <a:rPr lang="en-US" sz="2000" b="1" dirty="0"/>
                  <a:t>l</a:t>
                </a:r>
                <a:r>
                  <a:rPr lang="en-US" sz="2000" b="1" dirty="0" smtClean="0"/>
                  <a:t>cm(</a:t>
                </a:r>
                <a:r>
                  <a:rPr lang="en-US" sz="2000" b="1" dirty="0" err="1" smtClean="0"/>
                  <a:t>a,b</a:t>
                </a:r>
                <a:r>
                  <a:rPr lang="en-US" sz="2000" b="1" dirty="0"/>
                  <a:t>)</a:t>
                </a:r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20688"/>
                <a:ext cx="5770984" cy="5505475"/>
              </a:xfrm>
              <a:blipFill rotWithShape="1">
                <a:blip r:embed="rId2"/>
                <a:stretch>
                  <a:fillRect l="-1056" t="-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8609" y="1052736"/>
            <a:ext cx="1940073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4898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The book I read is The Joy Of Abstraction – </a:t>
            </a:r>
            <a:r>
              <a:rPr lang="en-US" sz="2000" i="1" dirty="0" smtClean="0"/>
              <a:t>An Exploration of Math, Category Theory, and Life</a:t>
            </a:r>
            <a:r>
              <a:rPr lang="en-US" sz="2000" dirty="0" smtClean="0"/>
              <a:t> by Eugenia Cheng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Really Good Book: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Introduced some </a:t>
            </a:r>
            <a:r>
              <a:rPr lang="en-US" sz="2000" dirty="0"/>
              <a:t>b</a:t>
            </a:r>
            <a:r>
              <a:rPr lang="en-US" sz="2000" dirty="0" smtClean="0"/>
              <a:t>ackground </a:t>
            </a:r>
            <a:r>
              <a:rPr lang="en-US" sz="2000" dirty="0"/>
              <a:t>k</a:t>
            </a:r>
            <a:r>
              <a:rPr lang="en-US" sz="2000" dirty="0" smtClean="0"/>
              <a:t>nowledge</a:t>
            </a:r>
          </a:p>
          <a:p>
            <a:pPr marL="0" indent="0">
              <a:buNone/>
            </a:pPr>
            <a:r>
              <a:rPr lang="en-US" sz="2000" dirty="0" smtClean="0"/>
              <a:t>Used easy understanding examples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Also I am really thankful to my mentor Daniel.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Thanks!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53506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1023</Words>
  <Application>Microsoft Office PowerPoint</Application>
  <PresentationFormat>全屏显示(4:3)</PresentationFormat>
  <Paragraphs>180</Paragraphs>
  <Slides>12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3" baseType="lpstr">
      <vt:lpstr>Office 主题</vt:lpstr>
      <vt:lpstr>Some Ideas about Category Theory</vt:lpstr>
      <vt:lpstr>Overview of Contents</vt:lpstr>
      <vt:lpstr>What is Category Theory</vt:lpstr>
      <vt:lpstr>Isomorphism</vt:lpstr>
      <vt:lpstr>Monics and Epics</vt:lpstr>
      <vt:lpstr>PowerPoint 演示文稿</vt:lpstr>
      <vt:lpstr>Initial and Terminal Objects</vt:lpstr>
      <vt:lpstr>PowerPoint 演示文稿</vt:lpstr>
      <vt:lpstr>Products and Coproducts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Ideas about Category Theorem</dc:title>
  <dc:creator>ASUS</dc:creator>
  <cp:lastModifiedBy>ASUS</cp:lastModifiedBy>
  <cp:revision>71</cp:revision>
  <dcterms:created xsi:type="dcterms:W3CDTF">2024-04-07T03:31:57Z</dcterms:created>
  <dcterms:modified xsi:type="dcterms:W3CDTF">2024-04-20T17:27:15Z</dcterms:modified>
</cp:coreProperties>
</file>